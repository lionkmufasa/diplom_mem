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9E766B-4DD3-34AA-CF6B-40459D753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endParaRPr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D4072F4-C28B-9467-220B-95609CA09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endParaRPr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6E790C5-6A17-CF36-2CA7-69D7DCA4571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endParaRPr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6304786-26E7-A0A0-1DE1-AB0C9E1214A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F953E8A-FF6D-E92A-441C-B5A9AC13866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6057C3D-D7BB-E069-8EF7-C3BE1D0B0B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E27AD6-EFB8-5320-6197-A5A4004D1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endParaRPr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A7B37E-1358-E14F-2386-F77B263BE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endParaRPr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77455D1-3EA0-C90A-3FDB-E4C19C98BF2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BE4148A-F12D-FC11-4C9B-F638C19616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E66BF2-14ED-668E-5F4A-7FD4FF63A0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B9E2853-9C39-ACF5-FE79-2531AA50D3D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9375221-E59A-2A94-96C7-7514AB94DBE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C86B9A9-BA17-9EAE-DDAD-4DC3D96ABEF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71E78F-7F27-9558-8AC8-A745354D3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FB8FB22-919E-CC91-6649-A893E26C3C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E1DA26F-72CA-0AAC-1FBF-2A65F6EAE12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46B7990-E52A-DCBE-E3F1-4FB7D1FFBD1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7F7B4E7-B01A-E690-0034-2729C3EC13C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CBB52C-6B28-9EC0-DB08-78E0AD7C59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endParaRPr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B154067-B666-385B-C3F9-352EB41044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FA36594-D6CA-466F-EF29-3DFCFFB8306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15131FA-13BC-288A-B3E0-6113720F5FF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6580F63-9C83-3F8D-AB11-2EB75248F9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579B08-7C29-357E-2C88-56850DF04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1BE72FE-C40D-6CCA-E55C-5C1458523B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6CEADA-8D73-0A76-F6E2-C530643870B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52219D5-2048-C832-BB21-8BD65A86DF9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6C3C3D8-1060-3E49-A443-95C7DF259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endParaRPr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8B47937-D84B-9E84-01B2-884ADA1BC9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endParaRPr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8BBF6B-F5D4-74FA-7CEC-7FCA308F2FF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2ACBD1-19DA-C202-C4F0-B3EFAA9265D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B4B3276-1015-4762-1D7A-9176A1EE337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B29D94-19A8-47D9-D4D1-228BC2402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endParaRPr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8028CF-BEFE-2409-77C9-2661452D76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endParaRPr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321B26-B35B-321A-F8F6-AC2BBF0113AC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endParaRPr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A7AD705-8FF9-5990-81FA-E0E139C22365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endParaRPr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6180D4A-6EC8-AC2C-165F-8CB1B4E90874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endParaRPr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BAA14EC-54EC-4EB5-B40B-CBB05E7CC2A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8532A3C-EE24-6023-9E91-7A228A471C6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654E412-90FB-B12E-F7F3-39EA48F32F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EEBFD4-2EA4-7392-B798-31D6DC3FA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34B4BCB-BE49-FECA-659F-FECB6D0FBD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endParaRPr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AEF2B45-F158-F653-F706-43C44859484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B70ABF-6EF9-1914-6E82-3D07A39ADC0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F77A0AD-FAA9-4CBB-766E-AD306C55B06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52BEC6-6FC7-FCC7-F29E-FA4623763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61165C-A9A6-6161-DBBC-4CC6E5D162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A60546F-F0B6-7888-5522-B2037794621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5666F81-3DD1-A647-E55D-CB0AB9C6071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C371CC9-97C2-3127-6291-95A436FA319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440D24F-39E2-C9BC-72EE-4FF67769C0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6E65ED-38AE-93C1-1992-EF9192DA6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endParaRPr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E1E9B70-C7BF-95A7-9512-6E6060E7D0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749B92-3E1C-5C04-B7DF-9C65A9B8115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endParaRPr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242E6E2-543C-F8A4-9BC2-8EFA19F98D3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6C6C466-80F4-D7AA-B2F3-3782CD7C30D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979730-A7E9-EB25-049A-A5D21857289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389766-00ED-247B-535F-C12375210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endParaRPr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BBCDF3B-5702-989C-C68B-AFD1D7C1CB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endParaRPr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74BF2AB-924F-28AC-7C76-75CFA2F3C4E5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A9E061-7919-CDD6-C6AB-41D8351F98F6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23ADCC-7A6E-A2F3-011F-45BE8CE5F044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</a:extLst>
          </p:cNvPr>
          <p:cNvSpPr>
            <a:spLocks noGrp="1"/>
          </p:cNvSpPr>
          <p:nvPr/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</a:extLst>
          </p:cNvPr>
          <p:cNvSpPr>
            <a:spLocks noGrp="1"/>
          </p:cNvSpPr>
          <p:nvPr/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</a:extLst>
          </p:cNvPr>
          <p:cNvSpPr>
            <a:spLocks noGrp="1"/>
          </p:cNvSpPr>
          <p:nvPr/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</a:extLst>
          </p:cNvPr>
          <p:cNvSpPr>
            <a:spLocks noGrp="1"/>
          </p:cNvSpPr>
          <p:nvPr/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</a:extLst>
          </p:cNvPr>
          <p:cNvSpPr>
            <a:spLocks noGrp="1"/>
          </p:cNvSpPr>
          <p:nvPr/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</a:extLst>
          </p:cNvPr>
          <p:cNvSpPr>
            <a:spLocks noGrp="1"/>
          </p:cNvSpPr>
          <p:nvPr/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05E482-5E54-788D-0AC3-9F519A39CC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ru-RU" sz="2850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Разработка программно-аппаратного комплекса предиктивного обслуживания узлов робота-паллетизатора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</a:extLst>
          </p:cNvPr>
          <p:cNvSpPr>
            <a:spLocks noGrp="1"/>
          </p:cNvSpPr>
          <p:nvPr/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8B138F1-413E-EFD5-38CA-CF6CB9623E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 fontScale="88158" lnSpcReduction="20000"/>
          </a:bodyPr>
          <a:lstStyle/>
          <a:p>
            <a:pPr algn="l">
              <a:buNone/>
            </a:pPr>
            <a:r>
              <a:rPr lang="ru-RU" sz="1500" noProof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Миронов Е.М. группа РК9-83Б</a:t>
            </a:r>
          </a:p>
          <a:p>
            <a:pPr algn="l">
              <a:buNone/>
            </a:pPr>
            <a:r>
              <a:rPr lang="ru-RU" sz="1500" noProof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Научный руководитель – Сащенко Д.В.</a:t>
            </a:r>
          </a:p>
          <a:p>
            <a:pPr algn="l">
              <a:buNone/>
            </a:pPr>
            <a:endParaRPr lang="ru-RU" sz="1500" noProof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  <a:p>
            <a:pPr algn="r">
              <a:buNone/>
            </a:pPr>
            <a:r>
              <a:rPr lang="ru-RU" sz="1500" noProof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2026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B6C1B01-61B2-88DC-D14A-B395E81C2C6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598090" y="6356350"/>
            <a:ext cx="2743200" cy="365125"/>
          </a:xfrm>
        </p:spPr>
        <p:txBody>
          <a:bodyPr/>
          <a:lstStyle/>
          <a:p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1391745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2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</a:extLst>
          </p:cNvPr>
          <p:cNvSpPr>
            <a:spLocks noGrp="1"/>
          </p:cNvSpPr>
          <p:nvPr/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</a:extLst>
          </p:cNvPr>
          <p:cNvSpPr>
            <a:spLocks noGrp="1"/>
          </p:cNvSpPr>
          <p:nvPr/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4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</a:extLst>
          </p:cNvPr>
          <p:cNvSpPr>
            <a:spLocks noGrp="1"/>
          </p:cNvSpPr>
          <p:nvPr/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DCE2C1-F6F0-5B93-CE79-804D02AF3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lIns="0" tIns="0" rIns="0" bIns="0" anchor="ctr">
            <a:normAutofit/>
          </a:bodyPr>
          <a:lstStyle/>
          <a:p>
            <a:r>
              <a:rPr lang="ru-RU" sz="3150" b="0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Актуальность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E813C11-A86A-87F0-97CF-FFFEA8B2D8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 lang="ru-RU" noProof="0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411E276-AB1B-4269-90D0-B795B2419335}"/>
              </a:ext>
            </a:extLst>
          </p:cNvPr>
          <p:cNvSpPr>
            <a:spLocks noGrp="1"/>
          </p:cNvSpPr>
          <p:nvPr/>
        </p:nvSpPr>
        <p:spPr>
          <a:xfrm>
            <a:off x="876300" y="2724150"/>
            <a:ext cx="2381250" cy="1476375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577C8072-BDED-48C1-9BB4-FA81920D9D2C}"/>
              </a:ext>
            </a:extLst>
          </p:cNvPr>
          <p:cNvSpPr>
            <a:spLocks noGrp="1"/>
          </p:cNvSpPr>
          <p:nvPr/>
        </p:nvSpPr>
        <p:spPr>
          <a:xfrm>
            <a:off x="876300" y="2724150"/>
            <a:ext cx="66675" cy="1476375"/>
          </a:xfrm>
          <a:prstGeom prst="rect">
            <a:avLst/>
          </a:prstGeom>
          <a:solidFill>
            <a:srgbClr val="D96C3D"/>
          </a:solidFill>
          <a:ln w="0">
            <a:solidFill>
              <a:srgbClr val="D96C3D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B6DC4D2D-C749-4D44-B2FE-E9716ADB29DD}"/>
              </a:ext>
            </a:extLst>
          </p:cNvPr>
          <p:cNvSpPr>
            <a:spLocks noGrp="1"/>
          </p:cNvSpPr>
          <p:nvPr/>
        </p:nvSpPr>
        <p:spPr>
          <a:xfrm>
            <a:off x="1085850" y="2895600"/>
            <a:ext cx="19621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Простои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BAD9A52-3DCA-48A8-9D28-57D33095A8B9}"/>
              </a:ext>
            </a:extLst>
          </p:cNvPr>
          <p:cNvSpPr>
            <a:spLocks noGrp="1"/>
          </p:cNvSpPr>
          <p:nvPr/>
        </p:nvSpPr>
        <p:spPr>
          <a:xfrm>
            <a:off x="1085850" y="3276600"/>
            <a:ext cx="1981200" cy="828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7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останов робота блокирует</a:t>
            </a:r>
          </a:p>
          <a:p>
            <a:pPr algn="l">
              <a:defRPr sz="127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7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выход готовой продукции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C38E3F9-AA99-47B0-A3BB-099FEA091AFB}"/>
              </a:ext>
            </a:extLst>
          </p:cNvPr>
          <p:cNvSpPr>
            <a:spLocks noGrp="1"/>
          </p:cNvSpPr>
          <p:nvPr/>
        </p:nvSpPr>
        <p:spPr>
          <a:xfrm>
            <a:off x="3638550" y="2724150"/>
            <a:ext cx="2381250" cy="1476375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C72C37A1-2520-4C96-90AA-CDC4878D12F1}"/>
              </a:ext>
            </a:extLst>
          </p:cNvPr>
          <p:cNvSpPr>
            <a:spLocks noGrp="1"/>
          </p:cNvSpPr>
          <p:nvPr/>
        </p:nvSpPr>
        <p:spPr>
          <a:xfrm>
            <a:off x="3638550" y="2724150"/>
            <a:ext cx="66675" cy="1476375"/>
          </a:xfrm>
          <a:prstGeom prst="rect">
            <a:avLst/>
          </a:prstGeom>
          <a:solidFill>
            <a:srgbClr val="3369C7"/>
          </a:solidFill>
          <a:ln w="0">
            <a:solidFill>
              <a:srgbClr val="3369C7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FF115CE0-A4DD-4D4D-8942-9EDA6DC29389}"/>
              </a:ext>
            </a:extLst>
          </p:cNvPr>
          <p:cNvSpPr>
            <a:spLocks noGrp="1"/>
          </p:cNvSpPr>
          <p:nvPr/>
        </p:nvSpPr>
        <p:spPr>
          <a:xfrm>
            <a:off x="3848100" y="2895600"/>
            <a:ext cx="19621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Регламент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3A9D0EF8-8366-4CF9-A8E3-96ADC270A03E}"/>
              </a:ext>
            </a:extLst>
          </p:cNvPr>
          <p:cNvSpPr>
            <a:spLocks noGrp="1"/>
          </p:cNvSpPr>
          <p:nvPr/>
        </p:nvSpPr>
        <p:spPr>
          <a:xfrm>
            <a:off x="3848100" y="3276600"/>
            <a:ext cx="1981200" cy="828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7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не учитывает фактическое</a:t>
            </a:r>
          </a:p>
          <a:p>
            <a:pPr algn="l">
              <a:defRPr sz="127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7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состояние узлов J1-J6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5E6DEC35-479E-4E99-9900-408D5F7C3C43}"/>
              </a:ext>
            </a:extLst>
          </p:cNvPr>
          <p:cNvSpPr>
            <a:spLocks noGrp="1"/>
          </p:cNvSpPr>
          <p:nvPr/>
        </p:nvSpPr>
        <p:spPr>
          <a:xfrm>
            <a:off x="6400800" y="2724150"/>
            <a:ext cx="2381250" cy="1476375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19010BF-F970-4F82-AF31-7BCB7488E28A}"/>
              </a:ext>
            </a:extLst>
          </p:cNvPr>
          <p:cNvSpPr>
            <a:spLocks noGrp="1"/>
          </p:cNvSpPr>
          <p:nvPr/>
        </p:nvSpPr>
        <p:spPr>
          <a:xfrm>
            <a:off x="6400800" y="2724150"/>
            <a:ext cx="66675" cy="1476375"/>
          </a:xfrm>
          <a:prstGeom prst="rect">
            <a:avLst/>
          </a:prstGeom>
          <a:solidFill>
            <a:srgbClr val="2D9A6A"/>
          </a:solidFill>
          <a:ln w="0">
            <a:solidFill>
              <a:srgbClr val="2D9A6A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3F8042E7-9681-43F3-9153-488A479E41DE}"/>
              </a:ext>
            </a:extLst>
          </p:cNvPr>
          <p:cNvSpPr>
            <a:spLocks noGrp="1"/>
          </p:cNvSpPr>
          <p:nvPr/>
        </p:nvSpPr>
        <p:spPr>
          <a:xfrm>
            <a:off x="6610350" y="2895600"/>
            <a:ext cx="19621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Телеметрия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211BC0D6-BF2E-4744-A8C6-74EF10FCC114}"/>
              </a:ext>
            </a:extLst>
          </p:cNvPr>
          <p:cNvSpPr>
            <a:spLocks noGrp="1"/>
          </p:cNvSpPr>
          <p:nvPr/>
        </p:nvSpPr>
        <p:spPr>
          <a:xfrm>
            <a:off x="6610350" y="3276600"/>
            <a:ext cx="1981200" cy="828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7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момент, скорость, фаза</a:t>
            </a:r>
          </a:p>
          <a:p>
            <a:pPr algn="l">
              <a:defRPr sz="127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7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цикла доступны из модели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ED541FB-31BE-4E66-A136-31602DFAA1B4}"/>
              </a:ext>
            </a:extLst>
          </p:cNvPr>
          <p:cNvSpPr>
            <a:spLocks noGrp="1"/>
          </p:cNvSpPr>
          <p:nvPr/>
        </p:nvSpPr>
        <p:spPr>
          <a:xfrm>
            <a:off x="9163050" y="2724150"/>
            <a:ext cx="2381250" cy="1476375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EA947538-A702-4363-B329-CB25829E1ECD}"/>
              </a:ext>
            </a:extLst>
          </p:cNvPr>
          <p:cNvSpPr>
            <a:spLocks noGrp="1"/>
          </p:cNvSpPr>
          <p:nvPr/>
        </p:nvSpPr>
        <p:spPr>
          <a:xfrm>
            <a:off x="9163050" y="2724150"/>
            <a:ext cx="66675" cy="1476375"/>
          </a:xfrm>
          <a:prstGeom prst="rect">
            <a:avLst/>
          </a:prstGeom>
          <a:solidFill>
            <a:srgbClr val="D96C3D"/>
          </a:solidFill>
          <a:ln w="0">
            <a:solidFill>
              <a:srgbClr val="D96C3D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2AB4B5E4-C806-4E8D-82DD-7C9C8521511E}"/>
              </a:ext>
            </a:extLst>
          </p:cNvPr>
          <p:cNvSpPr>
            <a:spLocks noGrp="1"/>
          </p:cNvSpPr>
          <p:nvPr/>
        </p:nvSpPr>
        <p:spPr>
          <a:xfrm>
            <a:off x="9372600" y="2895600"/>
            <a:ext cx="19621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PdM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7CAB5FD8-2A60-4D65-9ADE-F771E1FEBA6E}"/>
              </a:ext>
            </a:extLst>
          </p:cNvPr>
          <p:cNvSpPr>
            <a:spLocks noGrp="1"/>
          </p:cNvSpPr>
          <p:nvPr/>
        </p:nvSpPr>
        <p:spPr>
          <a:xfrm>
            <a:off x="9372600" y="3276600"/>
            <a:ext cx="1981200" cy="828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7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прогноз RUL позволяет</a:t>
            </a:r>
          </a:p>
          <a:p>
            <a:pPr algn="l">
              <a:defRPr sz="127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7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планировать обслуживание</a:t>
            </a: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4831DEFC-695F-4882-A6B8-984775B18B16}"/>
              </a:ext>
            </a:extLst>
          </p:cNvPr>
          <p:cNvSpPr>
            <a:spLocks noGrp="1"/>
          </p:cNvSpPr>
          <p:nvPr/>
        </p:nvSpPr>
        <p:spPr>
          <a:xfrm>
            <a:off x="1238250" y="4800600"/>
            <a:ext cx="990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ru-RU" sz="1650" b="0" noProof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ВКР переводит задачу от статической оценки надежности к проверяемому ПАК с данными, признаками, прогнозом и мониторингом.</a:t>
            </a:r>
          </a:p>
        </p:txBody>
      </p:sp>
    </p:spTree>
    <p:extLst>
      <p:ext uri="{BB962C8B-B14F-4D97-AF65-F5344CB8AC3E}">
        <p14:creationId xmlns:p14="http://schemas.microsoft.com/office/powerpoint/2010/main" val="3222405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BACC6370-2D7E-4714-9D71-7542949D7D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68B3F68-107C-434F-AA38-110D5EA91B85}"/>
              </a:ext>
            </a:extLst>
          </p:cNvPr>
          <p:cNvSpPr>
            <a:spLocks noGrp="1"/>
          </p:cNvSpPr>
          <p:nvPr/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AD0DBB9-1A4B-4391-81D4-CB19F9AB918A}"/>
              </a:ext>
            </a:extLst>
          </p:cNvPr>
          <p:cNvSpPr>
            <a:spLocks noGrp="1"/>
          </p:cNvSpPr>
          <p:nvPr/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3BBA22-50EA-4C4D-BE05-F1CE4E63AA56}"/>
              </a:ext>
            </a:extLst>
          </p:cNvPr>
          <p:cNvSpPr>
            <a:spLocks noGrp="1"/>
          </p:cNvSpPr>
          <p:nvPr/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878984-89D4-C83B-69B2-FD077475A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lIns="0" tIns="0" rIns="0" bIns="0" anchor="ctr">
            <a:normAutofit/>
          </a:bodyPr>
          <a:lstStyle/>
          <a:p>
            <a:r>
              <a:rPr lang="ru-RU" sz="3150" b="0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Цель и задачи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D36BC2A-6DA4-1703-F89C-6A87E01C129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04320" y="6455664"/>
            <a:ext cx="44805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buNone/>
            </a:pPr>
            <a:endParaRPr lang="ru-RU" noProof="0" dirty="0"/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DF9E69FA-5404-43F5-B156-8EE0FE141132}"/>
              </a:ext>
            </a:extLst>
          </p:cNvPr>
          <p:cNvSpPr>
            <a:spLocks noGrp="1"/>
          </p:cNvSpPr>
          <p:nvPr/>
        </p:nvSpPr>
        <p:spPr>
          <a:xfrm>
            <a:off x="876300" y="2609850"/>
            <a:ext cx="4400550" cy="2381250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EDE0F686-D501-4C42-9E3A-907A452B2ED8}"/>
              </a:ext>
            </a:extLst>
          </p:cNvPr>
          <p:cNvSpPr>
            <a:spLocks noGrp="1"/>
          </p:cNvSpPr>
          <p:nvPr/>
        </p:nvSpPr>
        <p:spPr>
          <a:xfrm>
            <a:off x="876300" y="2609850"/>
            <a:ext cx="66675" cy="2381250"/>
          </a:xfrm>
          <a:prstGeom prst="rect">
            <a:avLst/>
          </a:prstGeom>
          <a:solidFill>
            <a:srgbClr val="D96C3D"/>
          </a:solidFill>
          <a:ln w="0">
            <a:solidFill>
              <a:srgbClr val="D96C3D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440FA9F-1C50-43E9-B8E2-B7B7BFD1C328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39814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Цель работы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B7A7BCC-7896-4ADD-80B7-C5E38380724D}"/>
              </a:ext>
            </a:extLst>
          </p:cNvPr>
          <p:cNvSpPr>
            <a:spLocks noGrp="1"/>
          </p:cNvSpPr>
          <p:nvPr/>
        </p:nvSpPr>
        <p:spPr>
          <a:xfrm>
            <a:off x="1085850" y="3162300"/>
            <a:ext cx="4000500" cy="1733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5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Разработать и апробировать ПАК предиктивного обслуживания</a:t>
            </a:r>
          </a:p>
          <a:p>
            <a:pPr algn="l">
              <a:defRPr sz="15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5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для механических и приводных узлов робота-паллетизатора.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8015A3E2-2BF9-4578-A1F9-0C6111286723}"/>
              </a:ext>
            </a:extLst>
          </p:cNvPr>
          <p:cNvSpPr>
            <a:spLocks noGrp="1"/>
          </p:cNvSpPr>
          <p:nvPr/>
        </p:nvSpPr>
        <p:spPr>
          <a:xfrm>
            <a:off x="5829300" y="2609850"/>
            <a:ext cx="5334000" cy="2381250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1E0B008A-9FA5-459F-8045-1E1F4EB291F7}"/>
              </a:ext>
            </a:extLst>
          </p:cNvPr>
          <p:cNvSpPr>
            <a:spLocks noGrp="1"/>
          </p:cNvSpPr>
          <p:nvPr/>
        </p:nvSpPr>
        <p:spPr>
          <a:xfrm>
            <a:off x="5829300" y="2609850"/>
            <a:ext cx="66675" cy="2381250"/>
          </a:xfrm>
          <a:prstGeom prst="rect">
            <a:avLst/>
          </a:prstGeom>
          <a:solidFill>
            <a:srgbClr val="3369C7"/>
          </a:solidFill>
          <a:ln w="0">
            <a:solidFill>
              <a:srgbClr val="3369C7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3A45178-6158-49EE-BC7A-40F8FE8DEA70}"/>
              </a:ext>
            </a:extLst>
          </p:cNvPr>
          <p:cNvSpPr>
            <a:spLocks noGrp="1"/>
          </p:cNvSpPr>
          <p:nvPr/>
        </p:nvSpPr>
        <p:spPr>
          <a:xfrm>
            <a:off x="6038850" y="2781300"/>
            <a:ext cx="49149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Ключевые задачи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83B1A7E6-86DD-46B2-8118-4B7EFAE193F7}"/>
              </a:ext>
            </a:extLst>
          </p:cNvPr>
          <p:cNvSpPr>
            <a:spLocks noGrp="1"/>
          </p:cNvSpPr>
          <p:nvPr/>
        </p:nvSpPr>
        <p:spPr>
          <a:xfrm>
            <a:off x="6038850" y="3162300"/>
            <a:ext cx="4933950" cy="1733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35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1. Описать объект и требования к системе.</a:t>
            </a:r>
          </a:p>
          <a:p>
            <a:pPr algn="l">
              <a:defRPr sz="135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35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2. Построить цифровую модель цикла паллетизации.</a:t>
            </a:r>
          </a:p>
          <a:p>
            <a:pPr algn="l">
              <a:defRPr sz="135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35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3. Организовать сбор и обработку телеметрии.</a:t>
            </a:r>
          </a:p>
          <a:p>
            <a:pPr algn="l">
              <a:defRPr sz="135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35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4. Рассчитать признаки деградации и RUL.</a:t>
            </a:r>
          </a:p>
          <a:p>
            <a:pPr algn="l">
              <a:defRPr sz="135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35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5. Проверить качество прогноза и эффект внедрения.</a:t>
            </a:r>
          </a:p>
        </p:txBody>
      </p:sp>
    </p:spTree>
    <p:extLst>
      <p:ext uri="{BB962C8B-B14F-4D97-AF65-F5344CB8AC3E}">
        <p14:creationId xmlns:p14="http://schemas.microsoft.com/office/powerpoint/2010/main" val="3070521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</a:extLst>
          </p:cNvPr>
          <p:cNvSpPr>
            <a:spLocks noGrp="1"/>
          </p:cNvSpPr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</a:extLst>
          </p:cNvPr>
          <p:cNvSpPr>
            <a:spLocks noGrp="1"/>
          </p:cNvSpPr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</a:extLst>
          </p:cNvPr>
          <p:cNvSpPr>
            <a:spLocks noGrp="1"/>
          </p:cNvSpPr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</a:extLst>
          </p:cNvPr>
          <p:cNvSpPr>
            <a:spLocks noGrp="1"/>
          </p:cNvSpPr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720AE0-9E9A-1907-444A-8295B25F8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 lIns="0" tIns="0" rIns="0" bIns="0">
            <a:normAutofit/>
          </a:bodyPr>
          <a:lstStyle/>
          <a:p>
            <a:r>
              <a:rPr lang="ru-RU" sz="3150" b="0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Производственная линия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7340DD5-05A5-D13B-7E06-FBD955DBCDA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buNone/>
            </a:pPr>
            <a:endParaRPr lang="ru-RU" noProof="0" dirty="0"/>
          </a:p>
        </p:txBody>
      </p:sp>
      <p:pic>
        <p:nvPicPr>
          <p:cNvPr id="20" name="Объект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5949" y="1590741"/>
            <a:ext cx="8220097" cy="526056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17E8508D-D334-44C6-9797-03365A3080B9}"/>
              </a:ext>
            </a:extLst>
          </p:cNvPr>
          <p:cNvSpPr>
            <a:spLocks noGrp="1"/>
          </p:cNvSpPr>
          <p:nvPr/>
        </p:nvSpPr>
        <p:spPr>
          <a:xfrm>
            <a:off x="2095500" y="5715000"/>
            <a:ext cx="8020050" cy="819150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FAE5DE2-C5B8-4FDC-8354-B057D2FB1B97}"/>
              </a:ext>
            </a:extLst>
          </p:cNvPr>
          <p:cNvSpPr>
            <a:spLocks noGrp="1"/>
          </p:cNvSpPr>
          <p:nvPr/>
        </p:nvSpPr>
        <p:spPr>
          <a:xfrm>
            <a:off x="2095500" y="5715000"/>
            <a:ext cx="66675" cy="819150"/>
          </a:xfrm>
          <a:prstGeom prst="rect">
            <a:avLst/>
          </a:prstGeom>
          <a:solidFill>
            <a:srgbClr val="D96C3D"/>
          </a:solidFill>
          <a:ln w="0">
            <a:solidFill>
              <a:srgbClr val="D96C3D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0006B9D-FE06-4F6B-AD2C-CE1AA0550E4D}"/>
              </a:ext>
            </a:extLst>
          </p:cNvPr>
          <p:cNvSpPr>
            <a:spLocks noGrp="1"/>
          </p:cNvSpPr>
          <p:nvPr/>
        </p:nvSpPr>
        <p:spPr>
          <a:xfrm>
            <a:off x="2305050" y="5886450"/>
            <a:ext cx="7600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Контекст внедрения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3B25AC7-A726-4A36-9323-04B3AB865753}"/>
              </a:ext>
            </a:extLst>
          </p:cNvPr>
          <p:cNvSpPr>
            <a:spLocks noGrp="1"/>
          </p:cNvSpPr>
          <p:nvPr/>
        </p:nvSpPr>
        <p:spPr>
          <a:xfrm>
            <a:off x="2305050" y="6267450"/>
            <a:ext cx="7620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7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Роботизированная паллетизация находится на выходе линии розлива: отказ узла влияет на накопление готовой продукции и простой участка.</a:t>
            </a:r>
          </a:p>
        </p:txBody>
      </p:sp>
    </p:spTree>
    <p:extLst>
      <p:ext uri="{BB962C8B-B14F-4D97-AF65-F5344CB8AC3E}">
        <p14:creationId xmlns:p14="http://schemas.microsoft.com/office/powerpoint/2010/main" val="481599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1">
            <a:extLst>
              <a:ext uri="{FF2B5EF4-FFF2-40B4-BE49-F238E27FC236}">
                <a16:creationId xmlns:a16="http://schemas.microsoft.com/office/drawing/2014/main" id="{1B15ED52-F352-441B-82BF-E0EA34836D0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1" name="Rectangle 13">
            <a:extLst>
              <a:ext uri="{FF2B5EF4-FFF2-40B4-BE49-F238E27FC236}">
                <a16:creationId xmlns:a16="http://schemas.microsoft.com/office/drawing/2014/main" id="{3B2E3793-BFE6-45A2-9B7B-E18844431C99}"/>
              </a:ext>
            </a:extLst>
          </p:cNvPr>
          <p:cNvSpPr>
            <a:spLocks noGrp="1"/>
          </p:cNvSpPr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BC4C4868-CB8F-4AF9-9CDB-8108F2C19B67}"/>
              </a:ext>
            </a:extLst>
          </p:cNvPr>
          <p:cNvSpPr>
            <a:spLocks noGrp="1"/>
          </p:cNvSpPr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5" name="Rectangle 17">
            <a:extLst>
              <a:ext uri="{FF2B5EF4-FFF2-40B4-BE49-F238E27FC236}">
                <a16:creationId xmlns:a16="http://schemas.microsoft.com/office/drawing/2014/main" id="{375E0459-6403-40CD-989D-56A4407CA12E}"/>
              </a:ext>
            </a:extLst>
          </p:cNvPr>
          <p:cNvSpPr>
            <a:spLocks noGrp="1"/>
          </p:cNvSpPr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7" name="Rectangle 19">
            <a:extLst>
              <a:ext uri="{FF2B5EF4-FFF2-40B4-BE49-F238E27FC236}">
                <a16:creationId xmlns:a16="http://schemas.microsoft.com/office/drawing/2014/main" id="{53E5B1A8-3AC9-4BD1-9BBC-78CA94F2D1BA}"/>
              </a:ext>
            </a:extLst>
          </p:cNvPr>
          <p:cNvSpPr>
            <a:spLocks noGrp="1"/>
          </p:cNvSpPr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748643-93B8-4B8B-40EE-121077DB3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 lIns="0" tIns="0" rIns="0" bIns="0">
            <a:normAutofit/>
          </a:bodyPr>
          <a:lstStyle/>
          <a:p>
            <a:r>
              <a:rPr lang="ru-RU" sz="3150" b="0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Участок паллетизации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FACBA3A-9AB2-90FF-6AE1-CEE3F7916D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buNone/>
            </a:pPr>
            <a:endParaRPr lang="ru-RU" noProof="0" dirty="0"/>
          </a:p>
        </p:txBody>
      </p:sp>
      <p:pic>
        <p:nvPicPr>
          <p:cNvPr id="20" name="Объект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1593" y="1594087"/>
            <a:ext cx="7848810" cy="5267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101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01">
            <a:extLst>
              <a:ext uri="{FF2B5EF4-FFF2-40B4-BE49-F238E27FC236}">
                <a16:creationId xmlns:a16="http://schemas.microsoft.com/office/drawing/2014/main" id="{C4285719-470E-454C-AF62-8323075F1F5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88952" cy="6858000"/>
          </a:xfrm>
          <a:prstGeom prst="rect">
            <a:avLst/>
          </a:prstGeom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49" name="Rectangle 103">
            <a:extLst>
              <a:ext uri="{FF2B5EF4-FFF2-40B4-BE49-F238E27FC236}">
                <a16:creationId xmlns:a16="http://schemas.microsoft.com/office/drawing/2014/main" id="{CD9FE4EF-C4D8-49A0-B2FF-81D8DB7D8A24}"/>
              </a:ext>
            </a:extLst>
          </p:cNvPr>
          <p:cNvSpPr>
            <a:spLocks noGrp="1"/>
          </p:cNvSpPr>
          <p:nvPr/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50" name="Rectangle 105">
            <a:extLst>
              <a:ext uri="{FF2B5EF4-FFF2-40B4-BE49-F238E27FC236}">
                <a16:creationId xmlns:a16="http://schemas.microsoft.com/office/drawing/2014/main" id="{4300840D-0A0B-4512-BACA-B439D5B9C57C}"/>
              </a:ext>
            </a:extLst>
          </p:cNvPr>
          <p:cNvSpPr>
            <a:spLocks noGrp="1"/>
          </p:cNvSpPr>
          <p:nvPr/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51" name="Rectangle 107">
            <a:extLst>
              <a:ext uri="{FF2B5EF4-FFF2-40B4-BE49-F238E27FC236}">
                <a16:creationId xmlns:a16="http://schemas.microsoft.com/office/drawing/2014/main" id="{D2B78728-A580-49A7-84F9-6EF6F583ADE0}"/>
              </a:ext>
            </a:extLst>
          </p:cNvPr>
          <p:cNvSpPr>
            <a:spLocks noGrp="1"/>
          </p:cNvSpPr>
          <p:nvPr/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52" name="Freeform: Shape 109">
            <a:extLst>
              <a:ext uri="{FF2B5EF4-FFF2-40B4-BE49-F238E27FC236}">
                <a16:creationId xmlns:a16="http://schemas.microsoft.com/office/drawing/2014/main" id="{38FAA1A1-D861-433F-88FA-1E9D6FD31D11}"/>
              </a:ext>
            </a:extLst>
          </p:cNvPr>
          <p:cNvSpPr>
            <a:spLocks noGrp="1"/>
          </p:cNvSpPr>
          <p:nvPr/>
        </p:nvSpPr>
        <p:spPr>
          <a:xfrm rot="20635413">
            <a:off x="-501737" y="969718"/>
            <a:ext cx="3900357" cy="4178958"/>
          </a:xfrm>
          <a:custGeom>
            <a:avLst/>
            <a:gdLst/>
            <a:ahLst/>
            <a:cxnLst/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53" name="Rectangle 111">
            <a:extLst>
              <a:ext uri="{FF2B5EF4-FFF2-40B4-BE49-F238E27FC236}">
                <a16:creationId xmlns:a16="http://schemas.microsoft.com/office/drawing/2014/main" id="{8D71EDA1-87BF-4D5D-AB79-F346FD19278A}"/>
              </a:ext>
            </a:extLst>
          </p:cNvPr>
          <p:cNvSpPr>
            <a:spLocks noGrp="1"/>
          </p:cNvSpPr>
          <p:nvPr/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5FD207-A809-1D31-8998-F4C14D2D4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vert="horz" lIns="0" tIns="0" rIns="0" bIns="0" anchor="b">
            <a:normAutofit/>
          </a:bodyPr>
          <a:lstStyle/>
          <a:p>
            <a:pPr algn="r">
              <a:buNone/>
            </a:pPr>
            <a:r>
              <a:rPr lang="ru-RU" sz="3150" b="0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Объект исследования</a:t>
            </a:r>
          </a:p>
        </p:txBody>
      </p:sp>
      <p:pic>
        <p:nvPicPr>
          <p:cNvPr id="155" name="document_534376252401572528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299" y="1968500"/>
            <a:ext cx="5659909" cy="30988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D44B34C-A631-5C0C-D8CE-ADAF09B44F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 lang="ru-RU" noProof="0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5964CE9-EC21-4657-9EAE-2FE35D2234A7}"/>
              </a:ext>
            </a:extLst>
          </p:cNvPr>
          <p:cNvSpPr>
            <a:spLocks noGrp="1"/>
          </p:cNvSpPr>
          <p:nvPr/>
        </p:nvSpPr>
        <p:spPr>
          <a:xfrm>
            <a:off x="666750" y="4400550"/>
            <a:ext cx="3028950" cy="1543050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6D03DD22-3860-4366-8303-EFD06F128B28}"/>
              </a:ext>
            </a:extLst>
          </p:cNvPr>
          <p:cNvSpPr>
            <a:spLocks noGrp="1"/>
          </p:cNvSpPr>
          <p:nvPr/>
        </p:nvSpPr>
        <p:spPr>
          <a:xfrm>
            <a:off x="666750" y="4400550"/>
            <a:ext cx="66675" cy="1543050"/>
          </a:xfrm>
          <a:prstGeom prst="rect">
            <a:avLst/>
          </a:prstGeom>
          <a:solidFill>
            <a:srgbClr val="D96C3D"/>
          </a:solidFill>
          <a:ln w="0">
            <a:solidFill>
              <a:srgbClr val="D96C3D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57" name="Прямоугольник 156">
            <a:extLst>
              <a:ext uri="{FF2B5EF4-FFF2-40B4-BE49-F238E27FC236}">
                <a16:creationId xmlns:a16="http://schemas.microsoft.com/office/drawing/2014/main" id="{D6EB47AE-524B-4B4F-833F-2C8183DE99BD}"/>
              </a:ext>
            </a:extLst>
          </p:cNvPr>
          <p:cNvSpPr>
            <a:spLocks noGrp="1"/>
          </p:cNvSpPr>
          <p:nvPr/>
        </p:nvSpPr>
        <p:spPr>
          <a:xfrm>
            <a:off x="876300" y="4572000"/>
            <a:ext cx="2609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ABB IRB 660-180/3.15</a:t>
            </a:r>
          </a:p>
        </p:txBody>
      </p:sp>
      <p:sp>
        <p:nvSpPr>
          <p:cNvPr id="158" name="Прямоугольник 157">
            <a:extLst>
              <a:ext uri="{FF2B5EF4-FFF2-40B4-BE49-F238E27FC236}">
                <a16:creationId xmlns:a16="http://schemas.microsoft.com/office/drawing/2014/main" id="{2E089691-764F-4F9C-AC8A-D85314053BA8}"/>
              </a:ext>
            </a:extLst>
          </p:cNvPr>
          <p:cNvSpPr>
            <a:spLocks noGrp="1"/>
          </p:cNvSpPr>
          <p:nvPr/>
        </p:nvSpPr>
        <p:spPr>
          <a:xfrm>
            <a:off x="876300" y="4953000"/>
            <a:ext cx="262890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4</a:t>
            </a: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 управляемые оси J1…J6</a:t>
            </a:r>
          </a:p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грузоподъемность 180 кг</a:t>
            </a:r>
          </a:p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рабочая зона до 3,15 м</a:t>
            </a:r>
          </a:p>
        </p:txBody>
      </p:sp>
    </p:spTree>
    <p:extLst>
      <p:ext uri="{BB962C8B-B14F-4D97-AF65-F5344CB8AC3E}">
        <p14:creationId xmlns:p14="http://schemas.microsoft.com/office/powerpoint/2010/main" val="238350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BACC6370-2D7E-4714-9D71-7542949D7D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68B3F68-107C-434F-AA38-110D5EA91B85}"/>
              </a:ext>
            </a:extLst>
          </p:cNvPr>
          <p:cNvSpPr>
            <a:spLocks noGrp="1"/>
          </p:cNvSpPr>
          <p:nvPr/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0DBB9-1A4B-4391-81D4-CB19F9AB918A}"/>
              </a:ext>
            </a:extLst>
          </p:cNvPr>
          <p:cNvSpPr>
            <a:spLocks noGrp="1"/>
          </p:cNvSpPr>
          <p:nvPr/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63BBA22-50EA-4C4D-BE05-F1CE4E63AA56}"/>
              </a:ext>
            </a:extLst>
          </p:cNvPr>
          <p:cNvSpPr>
            <a:spLocks noGrp="1"/>
          </p:cNvSpPr>
          <p:nvPr/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B0D7F8-AA65-C7EA-58A6-4FCBB7BD2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lIns="0" tIns="0" rIns="0" bIns="0" anchor="ctr">
            <a:normAutofit/>
          </a:bodyPr>
          <a:lstStyle/>
          <a:p>
            <a:r>
              <a:rPr lang="ru-RU" sz="3150" b="0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Концепция PdM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B874B45-1063-43AD-CFDA-D92EBD9103A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 lang="ru-RU" noProof="0" dirty="0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561B94C0-2622-4D12-8580-EE2D3DE2EE4A}"/>
              </a:ext>
            </a:extLst>
          </p:cNvPr>
          <p:cNvSpPr>
            <a:spLocks noGrp="1"/>
          </p:cNvSpPr>
          <p:nvPr/>
        </p:nvSpPr>
        <p:spPr>
          <a:xfrm>
            <a:off x="876300" y="3009900"/>
            <a:ext cx="2286000" cy="1619250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9518034F-D80B-4CD9-BDB9-19698E1CE7EE}"/>
              </a:ext>
            </a:extLst>
          </p:cNvPr>
          <p:cNvSpPr>
            <a:spLocks noGrp="1"/>
          </p:cNvSpPr>
          <p:nvPr/>
        </p:nvSpPr>
        <p:spPr>
          <a:xfrm>
            <a:off x="876300" y="3009900"/>
            <a:ext cx="66675" cy="1619250"/>
          </a:xfrm>
          <a:prstGeom prst="rect">
            <a:avLst/>
          </a:prstGeom>
          <a:solidFill>
            <a:srgbClr val="3369C7"/>
          </a:solidFill>
          <a:ln w="0">
            <a:solidFill>
              <a:srgbClr val="3369C7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B3ECA271-BE6C-41BE-8B61-886B50B20B9D}"/>
              </a:ext>
            </a:extLst>
          </p:cNvPr>
          <p:cNvSpPr>
            <a:spLocks noGrp="1"/>
          </p:cNvSpPr>
          <p:nvPr/>
        </p:nvSpPr>
        <p:spPr>
          <a:xfrm>
            <a:off x="1085850" y="3181350"/>
            <a:ext cx="18669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Сбор данных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EC438BE9-90F9-4159-8285-79ED6E56C6C6}"/>
              </a:ext>
            </a:extLst>
          </p:cNvPr>
          <p:cNvSpPr>
            <a:spLocks noGrp="1"/>
          </p:cNvSpPr>
          <p:nvPr/>
        </p:nvSpPr>
        <p:spPr>
          <a:xfrm>
            <a:off x="1085850" y="3562350"/>
            <a:ext cx="18859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момент</a:t>
            </a:r>
          </a:p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скорость</a:t>
            </a:r>
          </a:p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фаза цикла</a:t>
            </a: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3ACB877A-E0B7-43EC-B06D-4B1F26C01FAB}"/>
              </a:ext>
            </a:extLst>
          </p:cNvPr>
          <p:cNvSpPr>
            <a:spLocks noGrp="1"/>
          </p:cNvSpPr>
          <p:nvPr/>
        </p:nvSpPr>
        <p:spPr>
          <a:xfrm>
            <a:off x="3238500" y="3752850"/>
            <a:ext cx="171450" cy="38100"/>
          </a:xfrm>
          <a:prstGeom prst="rect">
            <a:avLst/>
          </a:prstGeom>
          <a:solidFill>
            <a:srgbClr val="D96C3D"/>
          </a:solidFill>
          <a:ln w="0">
            <a:solidFill>
              <a:srgbClr val="D96C3D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69" name="Равнобедренный треугольник 68">
            <a:extLst>
              <a:ext uri="{FF2B5EF4-FFF2-40B4-BE49-F238E27FC236}">
                <a16:creationId xmlns:a16="http://schemas.microsoft.com/office/drawing/2014/main" id="{101E62E1-6967-4D4D-9525-FC35DD391005}"/>
              </a:ext>
            </a:extLst>
          </p:cNvPr>
          <p:cNvSpPr>
            <a:spLocks noGrp="1"/>
          </p:cNvSpPr>
          <p:nvPr/>
        </p:nvSpPr>
        <p:spPr>
          <a:xfrm>
            <a:off x="3333750" y="3676650"/>
            <a:ext cx="171450" cy="190500"/>
          </a:xfrm>
          <a:prstGeom prst="triangle">
            <a:avLst/>
          </a:prstGeom>
          <a:solidFill>
            <a:srgbClr val="D96C3D"/>
          </a:solidFill>
          <a:ln w="0">
            <a:solidFill>
              <a:srgbClr val="D96C3D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EB5F98FC-09AF-4916-B907-83949A943DF9}"/>
              </a:ext>
            </a:extLst>
          </p:cNvPr>
          <p:cNvSpPr>
            <a:spLocks noGrp="1"/>
          </p:cNvSpPr>
          <p:nvPr/>
        </p:nvSpPr>
        <p:spPr>
          <a:xfrm>
            <a:off x="3486150" y="3009900"/>
            <a:ext cx="2286000" cy="1619250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0F813804-C7F9-46FB-9A70-A7CE382AA95F}"/>
              </a:ext>
            </a:extLst>
          </p:cNvPr>
          <p:cNvSpPr>
            <a:spLocks noGrp="1"/>
          </p:cNvSpPr>
          <p:nvPr/>
        </p:nvSpPr>
        <p:spPr>
          <a:xfrm>
            <a:off x="3486150" y="3009900"/>
            <a:ext cx="66675" cy="1619250"/>
          </a:xfrm>
          <a:prstGeom prst="rect">
            <a:avLst/>
          </a:prstGeom>
          <a:solidFill>
            <a:srgbClr val="2D9A6A"/>
          </a:solidFill>
          <a:ln w="0">
            <a:solidFill>
              <a:srgbClr val="2D9A6A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8FE82F06-09FD-41B5-822E-637A047BA784}"/>
              </a:ext>
            </a:extLst>
          </p:cNvPr>
          <p:cNvSpPr>
            <a:spLocks noGrp="1"/>
          </p:cNvSpPr>
          <p:nvPr/>
        </p:nvSpPr>
        <p:spPr>
          <a:xfrm>
            <a:off x="3695700" y="3181350"/>
            <a:ext cx="18669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Признаки</a:t>
            </a:r>
          </a:p>
        </p:txBody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127BB9C7-3D3F-48C8-A6DA-4EFFFFE99E71}"/>
              </a:ext>
            </a:extLst>
          </p:cNvPr>
          <p:cNvSpPr>
            <a:spLocks noGrp="1"/>
          </p:cNvSpPr>
          <p:nvPr/>
        </p:nvSpPr>
        <p:spPr>
          <a:xfrm>
            <a:off x="3695700" y="3562350"/>
            <a:ext cx="18859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RMS</a:t>
            </a:r>
          </a:p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энергия</a:t>
            </a:r>
          </a:p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длительность</a:t>
            </a:r>
          </a:p>
        </p:txBody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B4CCC156-11D4-4B78-82A5-09683B90F7C7}"/>
              </a:ext>
            </a:extLst>
          </p:cNvPr>
          <p:cNvSpPr>
            <a:spLocks noGrp="1"/>
          </p:cNvSpPr>
          <p:nvPr/>
        </p:nvSpPr>
        <p:spPr>
          <a:xfrm>
            <a:off x="5848350" y="3752850"/>
            <a:ext cx="171450" cy="38100"/>
          </a:xfrm>
          <a:prstGeom prst="rect">
            <a:avLst/>
          </a:prstGeom>
          <a:solidFill>
            <a:srgbClr val="D96C3D"/>
          </a:solidFill>
          <a:ln w="0">
            <a:solidFill>
              <a:srgbClr val="D96C3D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75" name="Равнобедренный треугольник 74">
            <a:extLst>
              <a:ext uri="{FF2B5EF4-FFF2-40B4-BE49-F238E27FC236}">
                <a16:creationId xmlns:a16="http://schemas.microsoft.com/office/drawing/2014/main" id="{4876315F-ADC3-4A63-9918-0B380FAC46A7}"/>
              </a:ext>
            </a:extLst>
          </p:cNvPr>
          <p:cNvSpPr>
            <a:spLocks noGrp="1"/>
          </p:cNvSpPr>
          <p:nvPr/>
        </p:nvSpPr>
        <p:spPr>
          <a:xfrm>
            <a:off x="5943600" y="3676650"/>
            <a:ext cx="171450" cy="190500"/>
          </a:xfrm>
          <a:prstGeom prst="triangle">
            <a:avLst/>
          </a:prstGeom>
          <a:solidFill>
            <a:srgbClr val="D96C3D"/>
          </a:solidFill>
          <a:ln w="0">
            <a:solidFill>
              <a:srgbClr val="D96C3D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76" name="Прямоугольник 75">
            <a:extLst>
              <a:ext uri="{FF2B5EF4-FFF2-40B4-BE49-F238E27FC236}">
                <a16:creationId xmlns:a16="http://schemas.microsoft.com/office/drawing/2014/main" id="{CD7D61FC-17DD-4FAA-A5F9-860F56B64896}"/>
              </a:ext>
            </a:extLst>
          </p:cNvPr>
          <p:cNvSpPr>
            <a:spLocks noGrp="1"/>
          </p:cNvSpPr>
          <p:nvPr/>
        </p:nvSpPr>
        <p:spPr>
          <a:xfrm>
            <a:off x="6096000" y="3009900"/>
            <a:ext cx="2286000" cy="1619250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77" name="Прямоугольник 76">
            <a:extLst>
              <a:ext uri="{FF2B5EF4-FFF2-40B4-BE49-F238E27FC236}">
                <a16:creationId xmlns:a16="http://schemas.microsoft.com/office/drawing/2014/main" id="{7D494A97-D9E2-4398-8724-01888B86B952}"/>
              </a:ext>
            </a:extLst>
          </p:cNvPr>
          <p:cNvSpPr>
            <a:spLocks noGrp="1"/>
          </p:cNvSpPr>
          <p:nvPr/>
        </p:nvSpPr>
        <p:spPr>
          <a:xfrm>
            <a:off x="6096000" y="3009900"/>
            <a:ext cx="66675" cy="1619250"/>
          </a:xfrm>
          <a:prstGeom prst="rect">
            <a:avLst/>
          </a:prstGeom>
          <a:solidFill>
            <a:srgbClr val="D96C3D"/>
          </a:solidFill>
          <a:ln w="0">
            <a:solidFill>
              <a:srgbClr val="D96C3D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78" name="Прямоугольник 77">
            <a:extLst>
              <a:ext uri="{FF2B5EF4-FFF2-40B4-BE49-F238E27FC236}">
                <a16:creationId xmlns:a16="http://schemas.microsoft.com/office/drawing/2014/main" id="{C2E77688-51B8-4284-91AB-51F76B6A59E5}"/>
              </a:ext>
            </a:extLst>
          </p:cNvPr>
          <p:cNvSpPr>
            <a:spLocks noGrp="1"/>
          </p:cNvSpPr>
          <p:nvPr/>
        </p:nvSpPr>
        <p:spPr>
          <a:xfrm>
            <a:off x="6305550" y="3181350"/>
            <a:ext cx="18669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Прогноз</a:t>
            </a:r>
          </a:p>
        </p:txBody>
      </p:sp>
      <p:sp>
        <p:nvSpPr>
          <p:cNvPr id="79" name="Прямоугольник 78">
            <a:extLst>
              <a:ext uri="{FF2B5EF4-FFF2-40B4-BE49-F238E27FC236}">
                <a16:creationId xmlns:a16="http://schemas.microsoft.com/office/drawing/2014/main" id="{058066E5-79E8-4E32-A8D7-C1456C655905}"/>
              </a:ext>
            </a:extLst>
          </p:cNvPr>
          <p:cNvSpPr>
            <a:spLocks noGrp="1"/>
          </p:cNvSpPr>
          <p:nvPr/>
        </p:nvSpPr>
        <p:spPr>
          <a:xfrm>
            <a:off x="6305550" y="3562350"/>
            <a:ext cx="18859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HI</a:t>
            </a:r>
          </a:p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RUL</a:t>
            </a:r>
          </a:p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порог состояния</a:t>
            </a:r>
          </a:p>
        </p:txBody>
      </p:sp>
      <p:sp>
        <p:nvSpPr>
          <p:cNvPr id="80" name="Прямоугольник 79">
            <a:extLst>
              <a:ext uri="{FF2B5EF4-FFF2-40B4-BE49-F238E27FC236}">
                <a16:creationId xmlns:a16="http://schemas.microsoft.com/office/drawing/2014/main" id="{D3D262D7-AF66-4E2F-A4FF-2DE385022939}"/>
              </a:ext>
            </a:extLst>
          </p:cNvPr>
          <p:cNvSpPr>
            <a:spLocks noGrp="1"/>
          </p:cNvSpPr>
          <p:nvPr/>
        </p:nvSpPr>
        <p:spPr>
          <a:xfrm>
            <a:off x="8458200" y="3752850"/>
            <a:ext cx="171450" cy="38100"/>
          </a:xfrm>
          <a:prstGeom prst="rect">
            <a:avLst/>
          </a:prstGeom>
          <a:solidFill>
            <a:srgbClr val="D96C3D"/>
          </a:solidFill>
          <a:ln w="0">
            <a:solidFill>
              <a:srgbClr val="D96C3D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81" name="Равнобедренный треугольник 80">
            <a:extLst>
              <a:ext uri="{FF2B5EF4-FFF2-40B4-BE49-F238E27FC236}">
                <a16:creationId xmlns:a16="http://schemas.microsoft.com/office/drawing/2014/main" id="{C3821741-BA13-45BD-8DC9-6745B51E0311}"/>
              </a:ext>
            </a:extLst>
          </p:cNvPr>
          <p:cNvSpPr>
            <a:spLocks noGrp="1"/>
          </p:cNvSpPr>
          <p:nvPr/>
        </p:nvSpPr>
        <p:spPr>
          <a:xfrm>
            <a:off x="8553450" y="3676650"/>
            <a:ext cx="171450" cy="190500"/>
          </a:xfrm>
          <a:prstGeom prst="triangle">
            <a:avLst/>
          </a:prstGeom>
          <a:solidFill>
            <a:srgbClr val="D96C3D"/>
          </a:solidFill>
          <a:ln w="0">
            <a:solidFill>
              <a:srgbClr val="D96C3D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DA299885-A5A9-452B-A832-9AC4FDEBB7B5}"/>
              </a:ext>
            </a:extLst>
          </p:cNvPr>
          <p:cNvSpPr>
            <a:spLocks noGrp="1"/>
          </p:cNvSpPr>
          <p:nvPr/>
        </p:nvSpPr>
        <p:spPr>
          <a:xfrm>
            <a:off x="8705850" y="3009900"/>
            <a:ext cx="2286000" cy="1619250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CA510CEE-19A9-4554-B850-25D3C23B673F}"/>
              </a:ext>
            </a:extLst>
          </p:cNvPr>
          <p:cNvSpPr>
            <a:spLocks noGrp="1"/>
          </p:cNvSpPr>
          <p:nvPr/>
        </p:nvSpPr>
        <p:spPr>
          <a:xfrm>
            <a:off x="8705850" y="3009900"/>
            <a:ext cx="66675" cy="1619250"/>
          </a:xfrm>
          <a:prstGeom prst="rect">
            <a:avLst/>
          </a:prstGeom>
          <a:solidFill>
            <a:srgbClr val="3369C7"/>
          </a:solidFill>
          <a:ln w="0">
            <a:solidFill>
              <a:srgbClr val="3369C7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84" name="Прямоугольник 83">
            <a:extLst>
              <a:ext uri="{FF2B5EF4-FFF2-40B4-BE49-F238E27FC236}">
                <a16:creationId xmlns:a16="http://schemas.microsoft.com/office/drawing/2014/main" id="{113ACABD-D151-428C-B96D-7F670D240C5A}"/>
              </a:ext>
            </a:extLst>
          </p:cNvPr>
          <p:cNvSpPr>
            <a:spLocks noGrp="1"/>
          </p:cNvSpPr>
          <p:nvPr/>
        </p:nvSpPr>
        <p:spPr>
          <a:xfrm>
            <a:off x="8915400" y="3181350"/>
            <a:ext cx="18669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85" name="Прямоугольник 84">
            <a:extLst>
              <a:ext uri="{FF2B5EF4-FFF2-40B4-BE49-F238E27FC236}">
                <a16:creationId xmlns:a16="http://schemas.microsoft.com/office/drawing/2014/main" id="{079D04AF-18C7-44F2-BFBB-DD8CB2C70AC9}"/>
              </a:ext>
            </a:extLst>
          </p:cNvPr>
          <p:cNvSpPr>
            <a:spLocks noGrp="1"/>
          </p:cNvSpPr>
          <p:nvPr/>
        </p:nvSpPr>
        <p:spPr>
          <a:xfrm>
            <a:off x="8915400" y="3562350"/>
            <a:ext cx="18859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алерт</a:t>
            </a:r>
            <a:endParaRPr lang="ru-RU" sz="1125" b="0" noProof="0" dirty="0">
              <a:solidFill>
                <a:srgbClr val="062B35"/>
              </a:solidFill>
              <a:latin typeface="Aptos"/>
              <a:ea typeface="Aptos"/>
              <a:cs typeface="Aptos"/>
            </a:endParaRPr>
          </a:p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рекомендация</a:t>
            </a:r>
          </a:p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план ТО</a:t>
            </a:r>
          </a:p>
        </p:txBody>
      </p:sp>
      <p:sp>
        <p:nvSpPr>
          <p:cNvPr id="86" name="Прямоугольник 85">
            <a:extLst>
              <a:ext uri="{FF2B5EF4-FFF2-40B4-BE49-F238E27FC236}">
                <a16:creationId xmlns:a16="http://schemas.microsoft.com/office/drawing/2014/main" id="{290F98B0-6224-40B6-A040-D86B0467E711}"/>
              </a:ext>
            </a:extLst>
          </p:cNvPr>
          <p:cNvSpPr>
            <a:spLocks noGrp="1"/>
          </p:cNvSpPr>
          <p:nvPr/>
        </p:nvSpPr>
        <p:spPr>
          <a:xfrm>
            <a:off x="1285875" y="5191125"/>
            <a:ext cx="9334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ru-RU" sz="1650" b="0" noProof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Система обслуживает не календарный интервал, а фактическую динамику состояния узла.</a:t>
            </a:r>
          </a:p>
        </p:txBody>
      </p:sp>
    </p:spTree>
    <p:extLst>
      <p:ext uri="{BB962C8B-B14F-4D97-AF65-F5344CB8AC3E}">
        <p14:creationId xmlns:p14="http://schemas.microsoft.com/office/powerpoint/2010/main" val="3714788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BACC6370-2D7E-4714-9D71-7542949D7D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68B3F68-107C-434F-AA38-110D5EA91B85}"/>
              </a:ext>
            </a:extLst>
          </p:cNvPr>
          <p:cNvSpPr>
            <a:spLocks noGrp="1"/>
          </p:cNvSpPr>
          <p:nvPr/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0DBB9-1A4B-4391-81D4-CB19F9AB918A}"/>
              </a:ext>
            </a:extLst>
          </p:cNvPr>
          <p:cNvSpPr>
            <a:spLocks noGrp="1"/>
          </p:cNvSpPr>
          <p:nvPr/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63BBA22-50EA-4C4D-BE05-F1CE4E63AA56}"/>
              </a:ext>
            </a:extLst>
          </p:cNvPr>
          <p:cNvSpPr>
            <a:spLocks noGrp="1"/>
          </p:cNvSpPr>
          <p:nvPr/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B0D7F8-AA65-C7EA-58A6-4FCBB7BD2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lIns="0" tIns="0" rIns="0" bIns="0" anchor="ctr">
            <a:normAutofit/>
          </a:bodyPr>
          <a:lstStyle/>
          <a:p>
            <a:r>
              <a:rPr lang="ru-RU" sz="3150" b="0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Цифровая модель в CoppeliaSim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B874B45-1063-43AD-CFDA-D92EBD9103A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 lang="ru-RU" noProof="0" dirty="0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009785B6-F3C9-4BD5-A882-DD1DB756D72C}"/>
              </a:ext>
            </a:extLst>
          </p:cNvPr>
          <p:cNvSpPr>
            <a:spLocks noGrp="1"/>
          </p:cNvSpPr>
          <p:nvPr/>
        </p:nvSpPr>
        <p:spPr>
          <a:xfrm>
            <a:off x="704850" y="2724150"/>
            <a:ext cx="3295650" cy="1257300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B775741C-B3B4-415E-90D9-7FDF6B28F57C}"/>
              </a:ext>
            </a:extLst>
          </p:cNvPr>
          <p:cNvSpPr>
            <a:spLocks noGrp="1"/>
          </p:cNvSpPr>
          <p:nvPr/>
        </p:nvSpPr>
        <p:spPr>
          <a:xfrm>
            <a:off x="704850" y="2724150"/>
            <a:ext cx="66675" cy="1257300"/>
          </a:xfrm>
          <a:prstGeom prst="rect">
            <a:avLst/>
          </a:prstGeom>
          <a:solidFill>
            <a:srgbClr val="3369C7"/>
          </a:solidFill>
          <a:ln w="0">
            <a:solidFill>
              <a:srgbClr val="3369C7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3E8A13E-2D05-4DC1-B2D7-4ADB2CB52052}"/>
              </a:ext>
            </a:extLst>
          </p:cNvPr>
          <p:cNvSpPr>
            <a:spLocks noGrp="1"/>
          </p:cNvSpPr>
          <p:nvPr/>
        </p:nvSpPr>
        <p:spPr>
          <a:xfrm>
            <a:off x="914400" y="2895600"/>
            <a:ext cx="2876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Состав сцены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77E3DBA6-064C-4BA5-A2DB-487AF7488D4C}"/>
              </a:ext>
            </a:extLst>
          </p:cNvPr>
          <p:cNvSpPr>
            <a:spLocks noGrp="1"/>
          </p:cNvSpPr>
          <p:nvPr/>
        </p:nvSpPr>
        <p:spPr>
          <a:xfrm>
            <a:off x="914400" y="3276600"/>
            <a:ext cx="28956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робот /</a:t>
            </a: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base_respondable</a:t>
            </a:r>
            <a:endParaRPr lang="ru-RU" sz="1200" b="0" noProof="0" dirty="0">
              <a:solidFill>
                <a:srgbClr val="062B35"/>
              </a:solidFill>
              <a:latin typeface="Aptos"/>
              <a:ea typeface="Aptos"/>
              <a:cs typeface="Aptos"/>
            </a:endParaRPr>
          </a:p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конвейеры бутылок и паллет</a:t>
            </a:r>
          </a:p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шаблоны упаковок и картона</a:t>
            </a: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99F10701-A067-40C4-A3E3-0EE3F7E6BF0F}"/>
              </a:ext>
            </a:extLst>
          </p:cNvPr>
          <p:cNvSpPr>
            <a:spLocks noGrp="1"/>
          </p:cNvSpPr>
          <p:nvPr/>
        </p:nvSpPr>
        <p:spPr>
          <a:xfrm>
            <a:off x="704850" y="4210050"/>
            <a:ext cx="3295650" cy="1257300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5BF5A638-517B-48EE-BA5D-8ACB0FA9D702}"/>
              </a:ext>
            </a:extLst>
          </p:cNvPr>
          <p:cNvSpPr>
            <a:spLocks noGrp="1"/>
          </p:cNvSpPr>
          <p:nvPr/>
        </p:nvSpPr>
        <p:spPr>
          <a:xfrm>
            <a:off x="704850" y="4210050"/>
            <a:ext cx="66675" cy="1257300"/>
          </a:xfrm>
          <a:prstGeom prst="rect">
            <a:avLst/>
          </a:prstGeom>
          <a:solidFill>
            <a:srgbClr val="D96C3D"/>
          </a:solidFill>
          <a:ln w="0">
            <a:solidFill>
              <a:srgbClr val="D96C3D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1C2C69BB-0BF1-44AB-9430-6DE9FE8F157E}"/>
              </a:ext>
            </a:extLst>
          </p:cNvPr>
          <p:cNvSpPr>
            <a:spLocks noGrp="1"/>
          </p:cNvSpPr>
          <p:nvPr/>
        </p:nvSpPr>
        <p:spPr>
          <a:xfrm>
            <a:off x="914400" y="4381500"/>
            <a:ext cx="2876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Цикл паллетизации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553A0638-804A-482D-8CCB-1837A2EFCAD5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28956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захват листов и упаковок</a:t>
            </a:r>
          </a:p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укладка слоями</a:t>
            </a:r>
          </a:p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событие </a:t>
            </a: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cycle_complete</a:t>
            </a:r>
            <a:endParaRPr lang="ru-RU" sz="1200" b="0" noProof="0" dirty="0">
              <a:solidFill>
                <a:srgbClr val="062B35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6597C18-DA30-1EF4-D4F9-C5059291F1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0146" y="2261874"/>
            <a:ext cx="5068453" cy="384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788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BACC6370-2D7E-4714-9D71-7542949D7D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68B3F68-107C-434F-AA38-110D5EA91B85}"/>
              </a:ext>
            </a:extLst>
          </p:cNvPr>
          <p:cNvSpPr>
            <a:spLocks noGrp="1"/>
          </p:cNvSpPr>
          <p:nvPr/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0DBB9-1A4B-4391-81D4-CB19F9AB918A}"/>
              </a:ext>
            </a:extLst>
          </p:cNvPr>
          <p:cNvSpPr>
            <a:spLocks noGrp="1"/>
          </p:cNvSpPr>
          <p:nvPr/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63BBA22-50EA-4C4D-BE05-F1CE4E63AA56}"/>
              </a:ext>
            </a:extLst>
          </p:cNvPr>
          <p:cNvSpPr>
            <a:spLocks noGrp="1"/>
          </p:cNvSpPr>
          <p:nvPr/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B0D7F8-AA65-C7EA-58A6-4FCBB7BD2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lIns="0" tIns="0" rIns="0" bIns="0" anchor="ctr">
            <a:normAutofit/>
          </a:bodyPr>
          <a:lstStyle/>
          <a:p>
            <a:r>
              <a:rPr lang="ru-RU" sz="3150" b="0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Телеметрия и диагностические признаки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B874B45-1063-43AD-CFDA-D92EBD9103A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 lang="ru-RU" noProof="0" dirty="0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CA7F7C10-051C-4487-8ADB-AEF30342170E}"/>
              </a:ext>
            </a:extLst>
          </p:cNvPr>
          <p:cNvSpPr>
            <a:spLocks noGrp="1"/>
          </p:cNvSpPr>
          <p:nvPr/>
        </p:nvSpPr>
        <p:spPr>
          <a:xfrm>
            <a:off x="762000" y="2647950"/>
            <a:ext cx="3162300" cy="1428750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39A8B133-5F59-4078-8968-3E89B8E5BFB6}"/>
              </a:ext>
            </a:extLst>
          </p:cNvPr>
          <p:cNvSpPr>
            <a:spLocks noGrp="1"/>
          </p:cNvSpPr>
          <p:nvPr/>
        </p:nvSpPr>
        <p:spPr>
          <a:xfrm>
            <a:off x="762000" y="2647950"/>
            <a:ext cx="66675" cy="1428750"/>
          </a:xfrm>
          <a:prstGeom prst="rect">
            <a:avLst/>
          </a:prstGeom>
          <a:solidFill>
            <a:srgbClr val="3369C7"/>
          </a:solidFill>
          <a:ln w="0">
            <a:solidFill>
              <a:srgbClr val="3369C7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10C26B9D-254C-48BF-BBA8-B66FF1485AB3}"/>
              </a:ext>
            </a:extLst>
          </p:cNvPr>
          <p:cNvSpPr>
            <a:spLocks noGrp="1"/>
          </p:cNvSpPr>
          <p:nvPr/>
        </p:nvSpPr>
        <p:spPr>
          <a:xfrm>
            <a:off x="971550" y="2819400"/>
            <a:ext cx="2743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Собираемые поля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55A1C054-4E6B-45E4-9E7B-FD09C25102BD}"/>
              </a:ext>
            </a:extLst>
          </p:cNvPr>
          <p:cNvSpPr>
            <a:spLocks noGrp="1"/>
          </p:cNvSpPr>
          <p:nvPr/>
        </p:nvSpPr>
        <p:spPr>
          <a:xfrm>
            <a:off x="971550" y="3200400"/>
            <a:ext cx="27622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time</a:t>
            </a: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, </a:t>
            </a: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cycle</a:t>
            </a: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, </a:t>
            </a: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phase</a:t>
            </a: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, </a:t>
            </a: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axis</a:t>
            </a:r>
            <a:endParaRPr lang="ru-RU" sz="1200" b="0" noProof="0" dirty="0">
              <a:solidFill>
                <a:srgbClr val="062B35"/>
              </a:solidFill>
              <a:latin typeface="Aptos"/>
              <a:ea typeface="Aptos"/>
              <a:cs typeface="Aptos"/>
            </a:endParaRPr>
          </a:p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q, </a:t>
            </a: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omega</a:t>
            </a: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, </a:t>
            </a: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accel</a:t>
            </a: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, </a:t>
            </a: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torque</a:t>
            </a:r>
            <a:endParaRPr lang="ru-RU" sz="1200" b="0" noProof="0" dirty="0">
              <a:solidFill>
                <a:srgbClr val="062B35"/>
              </a:solidFill>
              <a:latin typeface="Aptos"/>
              <a:ea typeface="Aptos"/>
              <a:cs typeface="Aptos"/>
            </a:endParaRPr>
          </a:p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layer</a:t>
            </a: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, </a:t>
            </a: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item</a:t>
            </a: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, </a:t>
            </a: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carrying</a:t>
            </a:r>
            <a:endParaRPr lang="ru-RU" sz="1200" b="0" noProof="0" dirty="0">
              <a:solidFill>
                <a:srgbClr val="062B35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E11B0A42-1583-43A1-9CB3-E7EA130A803F}"/>
              </a:ext>
            </a:extLst>
          </p:cNvPr>
          <p:cNvSpPr>
            <a:spLocks noGrp="1"/>
          </p:cNvSpPr>
          <p:nvPr/>
        </p:nvSpPr>
        <p:spPr>
          <a:xfrm>
            <a:off x="762000" y="4305300"/>
            <a:ext cx="3162300" cy="1428750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109373DF-9409-4A70-9F85-C23456E709DD}"/>
              </a:ext>
            </a:extLst>
          </p:cNvPr>
          <p:cNvSpPr>
            <a:spLocks noGrp="1"/>
          </p:cNvSpPr>
          <p:nvPr/>
        </p:nvSpPr>
        <p:spPr>
          <a:xfrm>
            <a:off x="762000" y="4305300"/>
            <a:ext cx="66675" cy="1428750"/>
          </a:xfrm>
          <a:prstGeom prst="rect">
            <a:avLst/>
          </a:prstGeom>
          <a:solidFill>
            <a:srgbClr val="2D9A6A"/>
          </a:solidFill>
          <a:ln w="0">
            <a:solidFill>
              <a:srgbClr val="2D9A6A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57D6E8AC-4EFA-468E-B73B-70BCEFA5FABC}"/>
              </a:ext>
            </a:extLst>
          </p:cNvPr>
          <p:cNvSpPr>
            <a:spLocks noGrp="1"/>
          </p:cNvSpPr>
          <p:nvPr/>
        </p:nvSpPr>
        <p:spPr>
          <a:xfrm>
            <a:off x="971550" y="4476750"/>
            <a:ext cx="2743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Признаки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B4AAC468-D2C7-414A-B6E2-E3C17016D9DE}"/>
              </a:ext>
            </a:extLst>
          </p:cNvPr>
          <p:cNvSpPr>
            <a:spLocks noGrp="1"/>
          </p:cNvSpPr>
          <p:nvPr/>
        </p:nvSpPr>
        <p:spPr>
          <a:xfrm>
            <a:off x="971550" y="4857750"/>
            <a:ext cx="27622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mean</a:t>
            </a: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 / </a:t>
            </a: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max</a:t>
            </a: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 / </a:t>
            </a: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std</a:t>
            </a: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 / </a:t>
            </a: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rms</a:t>
            </a:r>
            <a:endParaRPr lang="ru-RU" sz="1200" b="0" noProof="0" dirty="0">
              <a:solidFill>
                <a:srgbClr val="062B35"/>
              </a:solidFill>
              <a:latin typeface="Aptos"/>
              <a:ea typeface="Aptos"/>
              <a:cs typeface="Aptos"/>
            </a:endParaRPr>
          </a:p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energy</a:t>
            </a: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 и </a:t>
            </a: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slope</a:t>
            </a:r>
            <a:endParaRPr lang="ru-RU" sz="1200" b="0" noProof="0" dirty="0">
              <a:solidFill>
                <a:srgbClr val="062B35"/>
              </a:solidFill>
              <a:latin typeface="Aptos"/>
              <a:ea typeface="Aptos"/>
              <a:cs typeface="Aptos"/>
            </a:endParaRPr>
          </a:p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длительность фазы</a:t>
            </a:r>
          </a:p>
        </p:txBody>
      </p:sp>
      <p:pic>
        <p:nvPicPr>
          <p:cNvPr id="74" name="Рисунок 7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607214" y="2495550"/>
            <a:ext cx="6463722" cy="367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788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16">
            <a:extLst>
              <a:ext uri="{FF2B5EF4-FFF2-40B4-BE49-F238E27FC236}">
                <a16:creationId xmlns:a16="http://schemas.microsoft.com/office/drawing/2014/main" id="{A8384FB5-9ADC-4DDC-881B-597D56F5B1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6" name="Rectangle 18">
            <a:extLst>
              <a:ext uri="{FF2B5EF4-FFF2-40B4-BE49-F238E27FC236}">
                <a16:creationId xmlns:a16="http://schemas.microsoft.com/office/drawing/2014/main" id="{1199E1B1-A8C0-4FE8-A5A8-1CB41D69F857}"/>
              </a:ext>
            </a:extLst>
          </p:cNvPr>
          <p:cNvSpPr>
            <a:spLocks noGrp="1"/>
          </p:cNvSpPr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7" name="Rectangle 20">
            <a:extLst>
              <a:ext uri="{FF2B5EF4-FFF2-40B4-BE49-F238E27FC236}">
                <a16:creationId xmlns:a16="http://schemas.microsoft.com/office/drawing/2014/main" id="{84A8DE83-DE75-4B41-9DB4-A7EC0B0DEC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8" name="Rectangle 22">
            <a:extLst>
              <a:ext uri="{FF2B5EF4-FFF2-40B4-BE49-F238E27FC236}">
                <a16:creationId xmlns:a16="http://schemas.microsoft.com/office/drawing/2014/main" id="{A7009A0A-BEF5-4EAC-AF15-E4F9F002E239}"/>
              </a:ext>
            </a:extLst>
          </p:cNvPr>
          <p:cNvSpPr>
            <a:spLocks noGrp="1"/>
          </p:cNvSpPr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7627A7-D7EB-A17A-D4E7-2BEC2774C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0" tIns="0" rIns="0" bIns="0" anchor="ctr">
            <a:normAutofit/>
          </a:bodyPr>
          <a:lstStyle/>
          <a:p>
            <a:r>
              <a:rPr lang="ru-RU" sz="3150" b="0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Архитектура разработанного ПАК</a:t>
            </a:r>
          </a:p>
        </p:txBody>
      </p:sp>
      <p:pic>
        <p:nvPicPr>
          <p:cNvPr id="30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25" y="2025980"/>
            <a:ext cx="11327549" cy="4332786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E6FFA12-CA69-6B91-54E6-C516FF0FB81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708547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A8384FB5-9ADC-4DDC-881B-597D56F5B1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1E5A9A7-95C6-4F4F-B00E-C82E07FE62EF}"/>
              </a:ext>
            </a:extLst>
          </p:cNvPr>
          <p:cNvSpPr>
            <a:spLocks noGrp="1"/>
          </p:cNvSpPr>
          <p:nvPr/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07DD2DE-F619-49DD-B5E7-03A290FF4ED1}"/>
              </a:ext>
            </a:extLst>
          </p:cNvPr>
          <p:cNvSpPr>
            <a:spLocks noGrp="1"/>
          </p:cNvSpPr>
          <p:nvPr/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5149191-5F60-4A28-AAFF-039F96B0F3EC}"/>
              </a:ext>
            </a:extLst>
          </p:cNvPr>
          <p:cNvSpPr>
            <a:spLocks noGrp="1"/>
          </p:cNvSpPr>
          <p:nvPr/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8260ED5-17F7-4158-B241-D51DD4CF1B7E}"/>
              </a:ext>
            </a:extLst>
          </p:cNvPr>
          <p:cNvSpPr>
            <a:spLocks noGrp="1"/>
          </p:cNvSpPr>
          <p:nvPr/>
        </p:nvSpPr>
        <p:spPr>
          <a:xfrm rot="6097846">
            <a:off x="-747355" y="1201312"/>
            <a:ext cx="4808302" cy="4088666"/>
          </a:xfrm>
          <a:custGeom>
            <a:avLst/>
            <a:gdLst/>
            <a:ahLst/>
            <a:cxnLst/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7BD045-EF25-93E3-DE31-BC614D747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0" tIns="0" rIns="0" bIns="0" anchor="t">
            <a:normAutofit/>
          </a:bodyPr>
          <a:lstStyle/>
          <a:p>
            <a:r>
              <a:rPr lang="ru-RU" sz="3150" b="0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Алгоритм оценки RUL</a:t>
            </a:r>
          </a:p>
        </p:txBody>
      </p:sp>
      <p:pic>
        <p:nvPicPr>
          <p:cNvPr id="40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251" y="467208"/>
            <a:ext cx="7180101" cy="5923584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BE54A7F-80B5-3F9B-ACEA-59E95D312C0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04319" y="6455664"/>
            <a:ext cx="448056" cy="365125"/>
          </a:xfrm>
        </p:spPr>
        <p:txBody>
          <a:bodyPr vert="horz" lIns="91440" tIns="45720" rIns="91440" bIns="45720" anchor="ctr">
            <a:normAutofit/>
          </a:bodyPr>
          <a:lstStyle/>
          <a:p>
            <a:pPr>
              <a:spcAft>
                <a:spcPts val="600"/>
              </a:spcAft>
              <a:buNone/>
            </a:pPr>
            <a:endParaRPr lang="ru-RU" noProof="0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9F8D6D1-308A-46C9-A990-31755CB1FB5A}"/>
              </a:ext>
            </a:extLst>
          </p:cNvPr>
          <p:cNvSpPr>
            <a:spLocks noGrp="1"/>
          </p:cNvSpPr>
          <p:nvPr/>
        </p:nvSpPr>
        <p:spPr>
          <a:xfrm>
            <a:off x="590550" y="4876800"/>
            <a:ext cx="2990850" cy="1028700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47ACA331-10D0-4E69-BD62-225E5316AFBC}"/>
              </a:ext>
            </a:extLst>
          </p:cNvPr>
          <p:cNvSpPr>
            <a:spLocks noGrp="1"/>
          </p:cNvSpPr>
          <p:nvPr/>
        </p:nvSpPr>
        <p:spPr>
          <a:xfrm>
            <a:off x="590550" y="4876800"/>
            <a:ext cx="66675" cy="1028700"/>
          </a:xfrm>
          <a:prstGeom prst="rect">
            <a:avLst/>
          </a:prstGeom>
          <a:solidFill>
            <a:srgbClr val="D96C3D"/>
          </a:solidFill>
          <a:ln w="0">
            <a:solidFill>
              <a:srgbClr val="D96C3D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F7799A40-279E-4F07-A6DE-4B4F27C6CEF1}"/>
              </a:ext>
            </a:extLst>
          </p:cNvPr>
          <p:cNvSpPr>
            <a:spLocks noGrp="1"/>
          </p:cNvSpPr>
          <p:nvPr/>
        </p:nvSpPr>
        <p:spPr>
          <a:xfrm>
            <a:off x="800100" y="5048250"/>
            <a:ext cx="2571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Выход модели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B2608E7F-1F1A-4ED5-AA44-FA57A2E8113A}"/>
              </a:ext>
            </a:extLst>
          </p:cNvPr>
          <p:cNvSpPr>
            <a:spLocks noGrp="1"/>
          </p:cNvSpPr>
          <p:nvPr/>
        </p:nvSpPr>
        <p:spPr>
          <a:xfrm>
            <a:off x="800100" y="5429250"/>
            <a:ext cx="25908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остаточный ресурс RUL</a:t>
            </a:r>
          </a:p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алерт</a:t>
            </a: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 при приближении к порогу</a:t>
            </a:r>
          </a:p>
        </p:txBody>
      </p:sp>
    </p:spTree>
    <p:extLst>
      <p:ext uri="{BB962C8B-B14F-4D97-AF65-F5344CB8AC3E}">
        <p14:creationId xmlns:p14="http://schemas.microsoft.com/office/powerpoint/2010/main" val="6288355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27">
            <a:extLst>
              <a:ext uri="{FF2B5EF4-FFF2-40B4-BE49-F238E27FC236}">
                <a16:creationId xmlns:a16="http://schemas.microsoft.com/office/drawing/2014/main" id="{B712E947-0734-45F9-9C4F-41114EC3A33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5A65989E-BBD5-44D7-AA86-7AFD5D46BBC0}"/>
              </a:ext>
            </a:extLst>
          </p:cNvPr>
          <p:cNvSpPr>
            <a:spLocks noGrp="1"/>
          </p:cNvSpPr>
          <p:nvPr/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37" name="Rectangle 31">
            <a:extLst>
              <a:ext uri="{FF2B5EF4-FFF2-40B4-BE49-F238E27FC236}">
                <a16:creationId xmlns:a16="http://schemas.microsoft.com/office/drawing/2014/main" id="{231A2881-D8D7-4A7D-ACA3-E9F849F853D8}"/>
              </a:ext>
            </a:extLst>
          </p:cNvPr>
          <p:cNvSpPr>
            <a:spLocks noGrp="1"/>
          </p:cNvSpPr>
          <p:nvPr/>
        </p:nvSpPr>
        <p:spPr>
          <a:xfrm flipH="1">
            <a:off x="1" y="6400800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19575E-EF32-587A-0080-E09E887B67D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04320" y="6455664"/>
            <a:ext cx="448056" cy="365125"/>
          </a:xfrm>
        </p:spPr>
        <p:txBody>
          <a:bodyPr vert="horz" lIns="91440" tIns="45720" rIns="91440" bIns="45720" anchor="ctr">
            <a:normAutofit/>
          </a:bodyPr>
          <a:lstStyle/>
          <a:p>
            <a:pPr>
              <a:spcAft>
                <a:spcPts val="600"/>
              </a:spcAft>
              <a:buNone/>
            </a:pPr>
            <a:endParaRPr lang="ru-RU" noProof="0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63406BE9-5873-4832-AA5F-3B78EA4EC3B2}"/>
              </a:ext>
            </a:extLst>
          </p:cNvPr>
          <p:cNvSpPr>
            <a:spLocks noGrp="1"/>
          </p:cNvSpPr>
          <p:nvPr/>
        </p:nvSpPr>
        <p:spPr>
          <a:xfrm>
            <a:off x="819150" y="619455"/>
            <a:ext cx="9715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3150" b="0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Модель деградации узлов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8E8A8BF1-4430-4712-A812-11D1CD3B23E4}"/>
              </a:ext>
            </a:extLst>
          </p:cNvPr>
          <p:cNvSpPr>
            <a:spLocks noGrp="1"/>
          </p:cNvSpPr>
          <p:nvPr/>
        </p:nvSpPr>
        <p:spPr>
          <a:xfrm>
            <a:off x="819150" y="2381250"/>
            <a:ext cx="3238500" cy="1333500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B36C301B-F089-4019-9F9D-F88AC98AC55A}"/>
              </a:ext>
            </a:extLst>
          </p:cNvPr>
          <p:cNvSpPr>
            <a:spLocks noGrp="1"/>
          </p:cNvSpPr>
          <p:nvPr/>
        </p:nvSpPr>
        <p:spPr>
          <a:xfrm>
            <a:off x="819150" y="2381250"/>
            <a:ext cx="66675" cy="1333500"/>
          </a:xfrm>
          <a:prstGeom prst="rect">
            <a:avLst/>
          </a:prstGeom>
          <a:solidFill>
            <a:srgbClr val="D96C3D"/>
          </a:solidFill>
          <a:ln w="0">
            <a:solidFill>
              <a:srgbClr val="D96C3D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BA655BFD-E5E0-4F6E-913B-6B96B7A4DB29}"/>
              </a:ext>
            </a:extLst>
          </p:cNvPr>
          <p:cNvSpPr>
            <a:spLocks noGrp="1"/>
          </p:cNvSpPr>
          <p:nvPr/>
        </p:nvSpPr>
        <p:spPr>
          <a:xfrm>
            <a:off x="1028700" y="2552700"/>
            <a:ext cx="2819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Сценарии S0-S3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0E7B83A-81B0-45D1-BD19-5F4DE7E00F3A}"/>
              </a:ext>
            </a:extLst>
          </p:cNvPr>
          <p:cNvSpPr>
            <a:spLocks noGrp="1"/>
          </p:cNvSpPr>
          <p:nvPr/>
        </p:nvSpPr>
        <p:spPr>
          <a:xfrm>
            <a:off x="1028700" y="2933700"/>
            <a:ext cx="28384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S0: нормальный режим</a:t>
            </a:r>
          </a:p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S1-S2: слабая и средняя деградация</a:t>
            </a:r>
          </a:p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S3: ускоренное ухудшение состояния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034B295-BCD9-49EF-8C6D-9E197EE97B6E}"/>
              </a:ext>
            </a:extLst>
          </p:cNvPr>
          <p:cNvSpPr>
            <a:spLocks noGrp="1"/>
          </p:cNvSpPr>
          <p:nvPr/>
        </p:nvSpPr>
        <p:spPr>
          <a:xfrm>
            <a:off x="819150" y="4000500"/>
            <a:ext cx="3238500" cy="1333500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B9DC5C2E-2394-43A0-88DC-379DE3FB730B}"/>
              </a:ext>
            </a:extLst>
          </p:cNvPr>
          <p:cNvSpPr>
            <a:spLocks noGrp="1"/>
          </p:cNvSpPr>
          <p:nvPr/>
        </p:nvSpPr>
        <p:spPr>
          <a:xfrm>
            <a:off x="819150" y="4000500"/>
            <a:ext cx="66675" cy="1333500"/>
          </a:xfrm>
          <a:prstGeom prst="rect">
            <a:avLst/>
          </a:prstGeom>
          <a:solidFill>
            <a:srgbClr val="2D9A6A"/>
          </a:solidFill>
          <a:ln w="0">
            <a:solidFill>
              <a:srgbClr val="2D9A6A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207D88E7-CC26-4B80-8BC7-B91F72298A05}"/>
              </a:ext>
            </a:extLst>
          </p:cNvPr>
          <p:cNvSpPr>
            <a:spLocks noGrp="1"/>
          </p:cNvSpPr>
          <p:nvPr/>
        </p:nvSpPr>
        <p:spPr>
          <a:xfrm>
            <a:off x="1028700" y="4171950"/>
            <a:ext cx="2819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Health Indicator</a:t>
            </a:r>
          </a:p>
        </p:txBody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3D7E03B5-EFD0-4C39-81A6-C891DB0312BF}"/>
              </a:ext>
            </a:extLst>
          </p:cNvPr>
          <p:cNvSpPr>
            <a:spLocks noGrp="1"/>
          </p:cNvSpPr>
          <p:nvPr/>
        </p:nvSpPr>
        <p:spPr>
          <a:xfrm>
            <a:off x="1028700" y="4552950"/>
            <a:ext cx="28384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HI </a:t>
            </a:r>
            <a:r>
              <a:rPr lang="ru-RU" sz="120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снижается</a:t>
            </a: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 с накоплением повреждения</a:t>
            </a:r>
          </a:p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предельное состояние задает RUL</a:t>
            </a:r>
          </a:p>
        </p:txBody>
      </p:sp>
      <p:pic>
        <p:nvPicPr>
          <p:cNvPr id="48" name="Рисунок 4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91050" y="2200606"/>
            <a:ext cx="6496050" cy="3695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585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79E27D9-03C7-44E2-9FF8-15D0C8506A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BF1590-3B36-48EE-A89D-3B6F3CB256AB}"/>
              </a:ext>
            </a:extLst>
          </p:cNvPr>
          <p:cNvSpPr>
            <a:spLocks noGrp="1"/>
          </p:cNvSpPr>
          <p:nvPr/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8F6C8C-AB5A-4548-942D-E3FD40ACBC49}"/>
              </a:ext>
            </a:extLst>
          </p:cNvPr>
          <p:cNvSpPr>
            <a:spLocks noGrp="1"/>
          </p:cNvSpPr>
          <p:nvPr/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13F7AFC-0380-28BE-11AC-22C98C7E0DA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04320" y="6455664"/>
            <a:ext cx="448056" cy="365125"/>
          </a:xfrm>
        </p:spPr>
        <p:txBody>
          <a:bodyPr vert="horz" lIns="91440" tIns="45720" rIns="91440" bIns="45720" anchor="ctr">
            <a:normAutofit/>
          </a:bodyPr>
          <a:lstStyle/>
          <a:p>
            <a:pPr>
              <a:spcAft>
                <a:spcPts val="600"/>
              </a:spcAft>
              <a:buNone/>
            </a:pPr>
            <a:endParaRPr lang="ru-RU" noProof="0" dirty="0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523628-429F-45EC-B36E-88485572FC17}"/>
              </a:ext>
            </a:extLst>
          </p:cNvPr>
          <p:cNvSpPr>
            <a:spLocks noGrp="1"/>
          </p:cNvSpPr>
          <p:nvPr/>
        </p:nvSpPr>
        <p:spPr>
          <a:xfrm>
            <a:off x="800100" y="609600"/>
            <a:ext cx="9715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3150" b="0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Результаты апробации ПАК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F9FBAFB-00F7-4A9A-8115-93120C6463F8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2381250" cy="1162050"/>
          </a:xfrm>
          <a:prstGeom prst="rect">
            <a:avLst/>
          </a:prstGeom>
          <a:solidFill>
            <a:srgbClr val="F7FBFC"/>
          </a:solidFill>
          <a:ln w="10478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EF541467-615B-487E-B5A8-96BAC7F12817}"/>
              </a:ext>
            </a:extLst>
          </p:cNvPr>
          <p:cNvSpPr>
            <a:spLocks noGrp="1"/>
          </p:cNvSpPr>
          <p:nvPr/>
        </p:nvSpPr>
        <p:spPr>
          <a:xfrm>
            <a:off x="1047750" y="2628900"/>
            <a:ext cx="20383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3369C7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2100" b="1" noProof="0" dirty="0">
                <a:solidFill>
                  <a:srgbClr val="3369C7"/>
                </a:solidFill>
                <a:latin typeface="Aptos Display"/>
                <a:ea typeface="Aptos Display"/>
                <a:cs typeface="Aptos Display"/>
              </a:rPr>
              <a:t>22174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89060925-9BAB-432D-BA6B-BFE7B4FA6CCE}"/>
              </a:ext>
            </a:extLst>
          </p:cNvPr>
          <p:cNvSpPr>
            <a:spLocks noGrp="1"/>
          </p:cNvSpPr>
          <p:nvPr/>
        </p:nvSpPr>
        <p:spPr>
          <a:xfrm>
            <a:off x="1047750" y="3028950"/>
            <a:ext cx="20383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сырых пакета телеметрии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4197454-0457-444F-8C50-CB7E3569E74A}"/>
              </a:ext>
            </a:extLst>
          </p:cNvPr>
          <p:cNvSpPr>
            <a:spLocks noGrp="1"/>
          </p:cNvSpPr>
          <p:nvPr/>
        </p:nvSpPr>
        <p:spPr>
          <a:xfrm>
            <a:off x="3581400" y="2476500"/>
            <a:ext cx="2381250" cy="1162050"/>
          </a:xfrm>
          <a:prstGeom prst="rect">
            <a:avLst/>
          </a:prstGeom>
          <a:solidFill>
            <a:srgbClr val="F7FBFC"/>
          </a:solidFill>
          <a:ln w="10478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7D4A80A-53DC-42A0-B626-AC65778F05C1}"/>
              </a:ext>
            </a:extLst>
          </p:cNvPr>
          <p:cNvSpPr>
            <a:spLocks noGrp="1"/>
          </p:cNvSpPr>
          <p:nvPr/>
        </p:nvSpPr>
        <p:spPr>
          <a:xfrm>
            <a:off x="3752850" y="2628900"/>
            <a:ext cx="20383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3369C7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2100" b="1" noProof="0" dirty="0">
                <a:solidFill>
                  <a:srgbClr val="3369C7"/>
                </a:solidFill>
                <a:latin typeface="Aptos Display"/>
                <a:ea typeface="Aptos Display"/>
                <a:cs typeface="Aptos Display"/>
              </a:rPr>
              <a:t>88696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27FB86DF-AD83-4E4C-88CD-E38583609676}"/>
              </a:ext>
            </a:extLst>
          </p:cNvPr>
          <p:cNvSpPr>
            <a:spLocks noGrp="1"/>
          </p:cNvSpPr>
          <p:nvPr/>
        </p:nvSpPr>
        <p:spPr>
          <a:xfrm>
            <a:off x="3752850" y="3028950"/>
            <a:ext cx="20383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нормализованных строк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01DFB339-8FBF-4CF3-BFBE-8A9FBC1AB683}"/>
              </a:ext>
            </a:extLst>
          </p:cNvPr>
          <p:cNvSpPr>
            <a:spLocks noGrp="1"/>
          </p:cNvSpPr>
          <p:nvPr/>
        </p:nvSpPr>
        <p:spPr>
          <a:xfrm>
            <a:off x="6286500" y="2476500"/>
            <a:ext cx="2381250" cy="1162050"/>
          </a:xfrm>
          <a:prstGeom prst="rect">
            <a:avLst/>
          </a:prstGeom>
          <a:solidFill>
            <a:srgbClr val="F7FBFC"/>
          </a:solidFill>
          <a:ln w="10478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604F924-3C31-4987-9D98-EB87A38AE81B}"/>
              </a:ext>
            </a:extLst>
          </p:cNvPr>
          <p:cNvSpPr>
            <a:spLocks noGrp="1"/>
          </p:cNvSpPr>
          <p:nvPr/>
        </p:nvSpPr>
        <p:spPr>
          <a:xfrm>
            <a:off x="6457950" y="2628900"/>
            <a:ext cx="20383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2D9A6A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2100" b="1" noProof="0" dirty="0">
                <a:solidFill>
                  <a:srgbClr val="2D9A6A"/>
                </a:solidFill>
                <a:latin typeface="Aptos Display"/>
                <a:ea typeface="Aptos Display"/>
                <a:cs typeface="Aptos Display"/>
              </a:rPr>
              <a:t>56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5CD51DBF-CF61-4221-B688-C6E5B645F6C3}"/>
              </a:ext>
            </a:extLst>
          </p:cNvPr>
          <p:cNvSpPr>
            <a:spLocks noGrp="1"/>
          </p:cNvSpPr>
          <p:nvPr/>
        </p:nvSpPr>
        <p:spPr>
          <a:xfrm>
            <a:off x="6457950" y="3028950"/>
            <a:ext cx="20383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строк признаков по фазам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9FC819EE-291D-43D2-A07F-C2F4E0333CA0}"/>
              </a:ext>
            </a:extLst>
          </p:cNvPr>
          <p:cNvSpPr>
            <a:spLocks noGrp="1"/>
          </p:cNvSpPr>
          <p:nvPr/>
        </p:nvSpPr>
        <p:spPr>
          <a:xfrm>
            <a:off x="8991600" y="2476500"/>
            <a:ext cx="2381250" cy="1162050"/>
          </a:xfrm>
          <a:prstGeom prst="rect">
            <a:avLst/>
          </a:prstGeom>
          <a:solidFill>
            <a:srgbClr val="F7FBFC"/>
          </a:solidFill>
          <a:ln w="10478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35577E7-5BE8-4493-B115-58A5948EBDEF}"/>
              </a:ext>
            </a:extLst>
          </p:cNvPr>
          <p:cNvSpPr>
            <a:spLocks noGrp="1"/>
          </p:cNvSpPr>
          <p:nvPr/>
        </p:nvSpPr>
        <p:spPr>
          <a:xfrm>
            <a:off x="9163050" y="2628900"/>
            <a:ext cx="20383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2D9A6A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2100" b="1" noProof="0" dirty="0">
                <a:solidFill>
                  <a:srgbClr val="2D9A6A"/>
                </a:solidFill>
                <a:latin typeface="Aptos Display"/>
                <a:ea typeface="Aptos Display"/>
                <a:cs typeface="Aptos Display"/>
              </a:rPr>
              <a:t>17920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C5FA33EA-E82D-487B-82AB-F44BA1DF7364}"/>
              </a:ext>
            </a:extLst>
          </p:cNvPr>
          <p:cNvSpPr>
            <a:spLocks noGrp="1"/>
          </p:cNvSpPr>
          <p:nvPr/>
        </p:nvSpPr>
        <p:spPr>
          <a:xfrm>
            <a:off x="9163050" y="3028950"/>
            <a:ext cx="20383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строк деградации и RUL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D1536F30-0E71-4337-B472-E55AF522C21E}"/>
              </a:ext>
            </a:extLst>
          </p:cNvPr>
          <p:cNvSpPr>
            <a:spLocks noGrp="1"/>
          </p:cNvSpPr>
          <p:nvPr/>
        </p:nvSpPr>
        <p:spPr>
          <a:xfrm>
            <a:off x="2228850" y="4114800"/>
            <a:ext cx="2381250" cy="1162050"/>
          </a:xfrm>
          <a:prstGeom prst="rect">
            <a:avLst/>
          </a:prstGeom>
          <a:solidFill>
            <a:srgbClr val="F7FBFC"/>
          </a:solidFill>
          <a:ln w="10478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2C0D472B-F7B3-4725-A1A4-93047DD721AF}"/>
              </a:ext>
            </a:extLst>
          </p:cNvPr>
          <p:cNvSpPr>
            <a:spLocks noGrp="1"/>
          </p:cNvSpPr>
          <p:nvPr/>
        </p:nvSpPr>
        <p:spPr>
          <a:xfrm>
            <a:off x="2400300" y="4267200"/>
            <a:ext cx="20383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D96C3D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1650" b="1" noProof="0" dirty="0" err="1">
                <a:solidFill>
                  <a:srgbClr val="D96C3D"/>
                </a:solidFill>
                <a:latin typeface="Aptos Display"/>
                <a:ea typeface="Aptos Display"/>
                <a:cs typeface="Aptos Display"/>
              </a:rPr>
              <a:t>K_data</a:t>
            </a:r>
            <a:r>
              <a:rPr lang="ru-RU" sz="1650" b="1" noProof="0" dirty="0">
                <a:solidFill>
                  <a:srgbClr val="D96C3D"/>
                </a:solidFill>
                <a:latin typeface="Aptos Display"/>
                <a:ea typeface="Aptos Display"/>
                <a:cs typeface="Aptos Display"/>
              </a:rPr>
              <a:t> = 1.000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7020139B-B7E9-44DA-A9C7-10F4AA5A0729}"/>
              </a:ext>
            </a:extLst>
          </p:cNvPr>
          <p:cNvSpPr>
            <a:spLocks noGrp="1"/>
          </p:cNvSpPr>
          <p:nvPr/>
        </p:nvSpPr>
        <p:spPr>
          <a:xfrm>
            <a:off x="2400300" y="4667250"/>
            <a:ext cx="20383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валидность данных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14F5CB5-9C3C-45C4-BF42-A14111A382B0}"/>
              </a:ext>
            </a:extLst>
          </p:cNvPr>
          <p:cNvSpPr>
            <a:spLocks noGrp="1"/>
          </p:cNvSpPr>
          <p:nvPr/>
        </p:nvSpPr>
        <p:spPr>
          <a:xfrm>
            <a:off x="4914900" y="4114800"/>
            <a:ext cx="2381250" cy="1162050"/>
          </a:xfrm>
          <a:prstGeom prst="rect">
            <a:avLst/>
          </a:prstGeom>
          <a:solidFill>
            <a:srgbClr val="F7FBFC"/>
          </a:solidFill>
          <a:ln w="10478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88657526-FFF5-4193-91BB-DECA40DB41F5}"/>
              </a:ext>
            </a:extLst>
          </p:cNvPr>
          <p:cNvSpPr>
            <a:spLocks noGrp="1"/>
          </p:cNvSpPr>
          <p:nvPr/>
        </p:nvSpPr>
        <p:spPr>
          <a:xfrm>
            <a:off x="5086350" y="4267200"/>
            <a:ext cx="20383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D96C3D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1650" b="1" noProof="0" dirty="0" err="1">
                <a:solidFill>
                  <a:srgbClr val="D96C3D"/>
                </a:solidFill>
                <a:latin typeface="Aptos Display"/>
                <a:ea typeface="Aptos Display"/>
                <a:cs typeface="Aptos Display"/>
              </a:rPr>
              <a:t>K_phase</a:t>
            </a:r>
            <a:r>
              <a:rPr lang="ru-RU" sz="1650" b="1" noProof="0" dirty="0">
                <a:solidFill>
                  <a:srgbClr val="D96C3D"/>
                </a:solidFill>
                <a:latin typeface="Aptos Display"/>
                <a:ea typeface="Aptos Display"/>
                <a:cs typeface="Aptos Display"/>
              </a:rPr>
              <a:t> = 1.000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9A16F0F3-5C03-4E11-A6F1-A7335A28F454}"/>
              </a:ext>
            </a:extLst>
          </p:cNvPr>
          <p:cNvSpPr>
            <a:spLocks noGrp="1"/>
          </p:cNvSpPr>
          <p:nvPr/>
        </p:nvSpPr>
        <p:spPr>
          <a:xfrm>
            <a:off x="5086350" y="4667250"/>
            <a:ext cx="20383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покрытие фаз цикла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4FD89B00-2E58-473D-AD61-CEE7A93EFD3D}"/>
              </a:ext>
            </a:extLst>
          </p:cNvPr>
          <p:cNvSpPr>
            <a:spLocks noGrp="1"/>
          </p:cNvSpPr>
          <p:nvPr/>
        </p:nvSpPr>
        <p:spPr>
          <a:xfrm>
            <a:off x="7600950" y="4114800"/>
            <a:ext cx="2381250" cy="1162050"/>
          </a:xfrm>
          <a:prstGeom prst="rect">
            <a:avLst/>
          </a:prstGeom>
          <a:solidFill>
            <a:srgbClr val="F7FBFC"/>
          </a:solidFill>
          <a:ln w="10478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2B4CEEE6-9522-4331-A331-B5D7C60FB19A}"/>
              </a:ext>
            </a:extLst>
          </p:cNvPr>
          <p:cNvSpPr>
            <a:spLocks noGrp="1"/>
          </p:cNvSpPr>
          <p:nvPr/>
        </p:nvSpPr>
        <p:spPr>
          <a:xfrm>
            <a:off x="7772400" y="4267200"/>
            <a:ext cx="20383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D96C3D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1800" b="1" noProof="0" dirty="0">
                <a:solidFill>
                  <a:srgbClr val="D96C3D"/>
                </a:solidFill>
                <a:latin typeface="Aptos Display"/>
                <a:ea typeface="Aptos Display"/>
                <a:cs typeface="Aptos Display"/>
              </a:rPr>
              <a:t>14 фаз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BF224931-9AD2-4ACF-94C8-1DB73B00008B}"/>
              </a:ext>
            </a:extLst>
          </p:cNvPr>
          <p:cNvSpPr>
            <a:spLocks noGrp="1"/>
          </p:cNvSpPr>
          <p:nvPr/>
        </p:nvSpPr>
        <p:spPr>
          <a:xfrm>
            <a:off x="7772400" y="4667250"/>
            <a:ext cx="20383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выделено в полном цикле</a:t>
            </a:r>
          </a:p>
        </p:txBody>
      </p:sp>
    </p:spTree>
    <p:extLst>
      <p:ext uri="{BB962C8B-B14F-4D97-AF65-F5344CB8AC3E}">
        <p14:creationId xmlns:p14="http://schemas.microsoft.com/office/powerpoint/2010/main" val="41576926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5755CC-0EE9-6746-F248-83EB134DCD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 lang="ru-RU" noProof="0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F75D759-56E3-446E-AB5A-D1D75C90417E}"/>
              </a:ext>
            </a:extLst>
          </p:cNvPr>
          <p:cNvSpPr>
            <a:spLocks noGrp="1"/>
          </p:cNvSpPr>
          <p:nvPr/>
        </p:nvSpPr>
        <p:spPr>
          <a:xfrm>
            <a:off x="800100" y="742950"/>
            <a:ext cx="9715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2850" b="0" noProof="0" dirty="0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Качество прогноза RUL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1675" y="1676400"/>
            <a:ext cx="7635900" cy="434340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9EB7427-45A4-4563-88F7-F84509A4F62D}"/>
              </a:ext>
            </a:extLst>
          </p:cNvPr>
          <p:cNvSpPr>
            <a:spLocks noGrp="1"/>
          </p:cNvSpPr>
          <p:nvPr/>
        </p:nvSpPr>
        <p:spPr>
          <a:xfrm>
            <a:off x="8896350" y="2305050"/>
            <a:ext cx="2247900" cy="895350"/>
          </a:xfrm>
          <a:prstGeom prst="rect">
            <a:avLst/>
          </a:prstGeom>
          <a:solidFill>
            <a:srgbClr val="F7FBFC"/>
          </a:solidFill>
          <a:ln w="10478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D97A1F7-3EC1-4E9D-BD5A-EE8DF0E66976}"/>
              </a:ext>
            </a:extLst>
          </p:cNvPr>
          <p:cNvSpPr>
            <a:spLocks noGrp="1"/>
          </p:cNvSpPr>
          <p:nvPr/>
        </p:nvSpPr>
        <p:spPr>
          <a:xfrm>
            <a:off x="9067800" y="2457450"/>
            <a:ext cx="1905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369C7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1800" b="1" noProof="0" dirty="0">
                <a:solidFill>
                  <a:srgbClr val="3369C7"/>
                </a:solidFill>
                <a:latin typeface="Aptos Display"/>
                <a:ea typeface="Aptos Display"/>
                <a:cs typeface="Aptos Display"/>
              </a:rPr>
              <a:t>MAE = 1.173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DA2776C-322E-41C1-98BA-B4812FCA33B1}"/>
              </a:ext>
            </a:extLst>
          </p:cNvPr>
          <p:cNvSpPr>
            <a:spLocks noGrp="1"/>
          </p:cNvSpPr>
          <p:nvPr/>
        </p:nvSpPr>
        <p:spPr>
          <a:xfrm>
            <a:off x="9067800" y="2857500"/>
            <a:ext cx="1905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средняя абсолютная ошибка, циклы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64DAE00-CEC9-471C-9A7C-5C3C03363B38}"/>
              </a:ext>
            </a:extLst>
          </p:cNvPr>
          <p:cNvSpPr>
            <a:spLocks noGrp="1"/>
          </p:cNvSpPr>
          <p:nvPr/>
        </p:nvSpPr>
        <p:spPr>
          <a:xfrm>
            <a:off x="8896350" y="3429000"/>
            <a:ext cx="2247900" cy="895350"/>
          </a:xfrm>
          <a:prstGeom prst="rect">
            <a:avLst/>
          </a:prstGeom>
          <a:solidFill>
            <a:srgbClr val="F7FBFC"/>
          </a:solidFill>
          <a:ln w="10478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BB1363F-9F0C-47DC-8DBF-3A771B78439E}"/>
              </a:ext>
            </a:extLst>
          </p:cNvPr>
          <p:cNvSpPr>
            <a:spLocks noGrp="1"/>
          </p:cNvSpPr>
          <p:nvPr/>
        </p:nvSpPr>
        <p:spPr>
          <a:xfrm>
            <a:off x="9067800" y="3581400"/>
            <a:ext cx="1905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D96C3D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1800" b="1" noProof="0" dirty="0">
                <a:solidFill>
                  <a:srgbClr val="D96C3D"/>
                </a:solidFill>
                <a:latin typeface="Aptos Display"/>
                <a:ea typeface="Aptos Display"/>
                <a:cs typeface="Aptos Display"/>
              </a:rPr>
              <a:t>RMSE = 1.442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A8A8242-3E8A-4135-BCEC-FBD5159F7E2D}"/>
              </a:ext>
            </a:extLst>
          </p:cNvPr>
          <p:cNvSpPr>
            <a:spLocks noGrp="1"/>
          </p:cNvSpPr>
          <p:nvPr/>
        </p:nvSpPr>
        <p:spPr>
          <a:xfrm>
            <a:off x="9067800" y="3981450"/>
            <a:ext cx="1905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среднеквадратичная ошибка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640D235-BB54-4A30-B3BF-B749ECC3D168}"/>
              </a:ext>
            </a:extLst>
          </p:cNvPr>
          <p:cNvSpPr>
            <a:spLocks noGrp="1"/>
          </p:cNvSpPr>
          <p:nvPr/>
        </p:nvSpPr>
        <p:spPr>
          <a:xfrm>
            <a:off x="8896350" y="4552950"/>
            <a:ext cx="2247900" cy="895350"/>
          </a:xfrm>
          <a:prstGeom prst="rect">
            <a:avLst/>
          </a:prstGeom>
          <a:solidFill>
            <a:srgbClr val="F7FBFC"/>
          </a:solidFill>
          <a:ln w="10478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52EBC25-35CC-47DD-B3A5-12D77B5CF0B8}"/>
              </a:ext>
            </a:extLst>
          </p:cNvPr>
          <p:cNvSpPr>
            <a:spLocks noGrp="1"/>
          </p:cNvSpPr>
          <p:nvPr/>
        </p:nvSpPr>
        <p:spPr>
          <a:xfrm>
            <a:off x="9067800" y="4705350"/>
            <a:ext cx="1905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1">
                <a:solidFill>
                  <a:srgbClr val="2D9A6A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2025" b="1" noProof="0" dirty="0">
                <a:solidFill>
                  <a:srgbClr val="2D9A6A"/>
                </a:solidFill>
                <a:latin typeface="Aptos Display"/>
                <a:ea typeface="Aptos Display"/>
                <a:cs typeface="Aptos Display"/>
              </a:rPr>
              <a:t>R² = 0.994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81CA6C4-185F-4B9D-A5AD-64B06342C49A}"/>
              </a:ext>
            </a:extLst>
          </p:cNvPr>
          <p:cNvSpPr>
            <a:spLocks noGrp="1"/>
          </p:cNvSpPr>
          <p:nvPr/>
        </p:nvSpPr>
        <p:spPr>
          <a:xfrm>
            <a:off x="9067800" y="5105400"/>
            <a:ext cx="1905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качество аппроксимации</a:t>
            </a:r>
          </a:p>
        </p:txBody>
      </p:sp>
    </p:spTree>
    <p:extLst>
      <p:ext uri="{BB962C8B-B14F-4D97-AF65-F5344CB8AC3E}">
        <p14:creationId xmlns:p14="http://schemas.microsoft.com/office/powerpoint/2010/main" val="23086313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11">
            <a:extLst>
              <a:ext uri="{FF2B5EF4-FFF2-40B4-BE49-F238E27FC236}">
                <a16:creationId xmlns:a16="http://schemas.microsoft.com/office/drawing/2014/main" id="{979E27D9-03C7-44E2-9FF8-15D0C8506A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EEBF1590-3B36-48EE-A89D-3B6F3CB256AB}"/>
              </a:ext>
            </a:extLst>
          </p:cNvPr>
          <p:cNvSpPr>
            <a:spLocks noGrp="1"/>
          </p:cNvSpPr>
          <p:nvPr/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46" name="Rectangle 15">
            <a:extLst>
              <a:ext uri="{FF2B5EF4-FFF2-40B4-BE49-F238E27FC236}">
                <a16:creationId xmlns:a16="http://schemas.microsoft.com/office/drawing/2014/main" id="{AC8F6C8C-AB5A-4548-942D-E3FD40ACBC49}"/>
              </a:ext>
            </a:extLst>
          </p:cNvPr>
          <p:cNvSpPr>
            <a:spLocks noGrp="1"/>
          </p:cNvSpPr>
          <p:nvPr/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624158B-653A-2689-DEE3-47062E908E3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04320" y="6455664"/>
            <a:ext cx="448056" cy="365125"/>
          </a:xfrm>
        </p:spPr>
        <p:txBody>
          <a:bodyPr vert="horz" lIns="91440" tIns="45720" rIns="91440" bIns="45720" anchor="ctr">
            <a:normAutofit/>
          </a:bodyPr>
          <a:lstStyle/>
          <a:p>
            <a:pPr>
              <a:spcAft>
                <a:spcPts val="600"/>
              </a:spcAft>
              <a:buNone/>
            </a:pPr>
            <a:endParaRPr lang="ru-RU" noProof="0" dirty="0"/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1469A31B-8349-47D9-9B7F-9283F698016D}"/>
              </a:ext>
            </a:extLst>
          </p:cNvPr>
          <p:cNvSpPr>
            <a:spLocks noGrp="1"/>
          </p:cNvSpPr>
          <p:nvPr/>
        </p:nvSpPr>
        <p:spPr>
          <a:xfrm>
            <a:off x="800100" y="609600"/>
            <a:ext cx="9715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3150" b="0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Операторский мониторинг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36BE18AC-3112-4A8C-8CA3-BB4D6CFE83F7}"/>
              </a:ext>
            </a:extLst>
          </p:cNvPr>
          <p:cNvSpPr>
            <a:spLocks noGrp="1"/>
          </p:cNvSpPr>
          <p:nvPr/>
        </p:nvSpPr>
        <p:spPr>
          <a:xfrm>
            <a:off x="685800" y="2571750"/>
            <a:ext cx="2952750" cy="1371600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63972F73-267D-435A-B035-E76FFBEBD43B}"/>
              </a:ext>
            </a:extLst>
          </p:cNvPr>
          <p:cNvSpPr>
            <a:spLocks noGrp="1"/>
          </p:cNvSpPr>
          <p:nvPr/>
        </p:nvSpPr>
        <p:spPr>
          <a:xfrm>
            <a:off x="685800" y="2571750"/>
            <a:ext cx="66675" cy="1371600"/>
          </a:xfrm>
          <a:prstGeom prst="rect">
            <a:avLst/>
          </a:prstGeom>
          <a:solidFill>
            <a:srgbClr val="3369C7"/>
          </a:solidFill>
          <a:ln w="0">
            <a:solidFill>
              <a:srgbClr val="3369C7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51F60953-C087-4D7F-9AFA-58F6CF291FF8}"/>
              </a:ext>
            </a:extLst>
          </p:cNvPr>
          <p:cNvSpPr>
            <a:spLocks noGrp="1"/>
          </p:cNvSpPr>
          <p:nvPr/>
        </p:nvSpPr>
        <p:spPr>
          <a:xfrm>
            <a:off x="895350" y="2743200"/>
            <a:ext cx="25336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Назначение</a:t>
            </a:r>
          </a:p>
        </p:txBody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5E44BA86-5413-487F-BC7E-EFA0BCAD44CB}"/>
              </a:ext>
            </a:extLst>
          </p:cNvPr>
          <p:cNvSpPr>
            <a:spLocks noGrp="1"/>
          </p:cNvSpPr>
          <p:nvPr/>
        </p:nvSpPr>
        <p:spPr>
          <a:xfrm>
            <a:off x="895350" y="3124200"/>
            <a:ext cx="25527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показывать состояние узлов</a:t>
            </a:r>
          </a:p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фиксировать события цикла</a:t>
            </a:r>
          </a:p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выдавать предупреждения по RUL</a:t>
            </a:r>
          </a:p>
        </p:txBody>
      </p:sp>
      <p:sp>
        <p:nvSpPr>
          <p:cNvPr id="52" name="Прямоугольник 51">
            <a:extLst>
              <a:ext uri="{FF2B5EF4-FFF2-40B4-BE49-F238E27FC236}">
                <a16:creationId xmlns:a16="http://schemas.microsoft.com/office/drawing/2014/main" id="{B1A48A60-D80E-4CE9-A85E-AF7D8BDA6C12}"/>
              </a:ext>
            </a:extLst>
          </p:cNvPr>
          <p:cNvSpPr>
            <a:spLocks noGrp="1"/>
          </p:cNvSpPr>
          <p:nvPr/>
        </p:nvSpPr>
        <p:spPr>
          <a:xfrm>
            <a:off x="685800" y="4248150"/>
            <a:ext cx="2952750" cy="1371600"/>
          </a:xfrm>
          <a:prstGeom prst="rect">
            <a:avLst/>
          </a:prstGeom>
          <a:solidFill>
            <a:srgbClr val="F7FBFC"/>
          </a:solidFill>
          <a:ln w="11430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53" name="Прямоугольник 52">
            <a:extLst>
              <a:ext uri="{FF2B5EF4-FFF2-40B4-BE49-F238E27FC236}">
                <a16:creationId xmlns:a16="http://schemas.microsoft.com/office/drawing/2014/main" id="{68697C8F-462B-4981-9942-DE342955BB85}"/>
              </a:ext>
            </a:extLst>
          </p:cNvPr>
          <p:cNvSpPr>
            <a:spLocks noGrp="1"/>
          </p:cNvSpPr>
          <p:nvPr/>
        </p:nvSpPr>
        <p:spPr>
          <a:xfrm>
            <a:off x="685800" y="4248150"/>
            <a:ext cx="66675" cy="1371600"/>
          </a:xfrm>
          <a:prstGeom prst="rect">
            <a:avLst/>
          </a:prstGeom>
          <a:solidFill>
            <a:srgbClr val="D96C3D"/>
          </a:solidFill>
          <a:ln w="0">
            <a:solidFill>
              <a:srgbClr val="D96C3D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54" name="Прямоугольник 53">
            <a:extLst>
              <a:ext uri="{FF2B5EF4-FFF2-40B4-BE49-F238E27FC236}">
                <a16:creationId xmlns:a16="http://schemas.microsoft.com/office/drawing/2014/main" id="{676A0482-4A63-4602-A228-497E1BF83E74}"/>
              </a:ext>
            </a:extLst>
          </p:cNvPr>
          <p:cNvSpPr>
            <a:spLocks noGrp="1"/>
          </p:cNvSpPr>
          <p:nvPr/>
        </p:nvSpPr>
        <p:spPr>
          <a:xfrm>
            <a:off x="895350" y="4419600"/>
            <a:ext cx="25336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3369C7"/>
                </a:solidFill>
                <a:latin typeface="Aptos"/>
                <a:ea typeface="Aptos"/>
                <a:cs typeface="Aptos"/>
              </a:defRPr>
            </a:pPr>
            <a:r>
              <a:rPr lang="ru-RU" sz="1500" b="1" noProof="0" dirty="0">
                <a:solidFill>
                  <a:srgbClr val="3369C7"/>
                </a:solidFill>
                <a:latin typeface="Aptos"/>
                <a:ea typeface="Aptos"/>
                <a:cs typeface="Aptos"/>
              </a:rPr>
              <a:t>Инфраструктура</a:t>
            </a:r>
          </a:p>
        </p:txBody>
      </p: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F2BC539A-D9B9-4493-8F3C-96292E410E0E}"/>
              </a:ext>
            </a:extLst>
          </p:cNvPr>
          <p:cNvSpPr>
            <a:spLocks noGrp="1"/>
          </p:cNvSpPr>
          <p:nvPr/>
        </p:nvSpPr>
        <p:spPr>
          <a:xfrm>
            <a:off x="895350" y="4800600"/>
            <a:ext cx="25527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InfluxDB: хранение рядов</a:t>
            </a:r>
          </a:p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Grafana: панели и </a:t>
            </a: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алерты</a:t>
            </a:r>
            <a:endParaRPr lang="ru-RU" sz="1200" b="0" noProof="0" dirty="0">
              <a:solidFill>
                <a:srgbClr val="062B35"/>
              </a:solidFill>
              <a:latin typeface="Aptos"/>
              <a:ea typeface="Aptos"/>
              <a:cs typeface="Aptos"/>
            </a:endParaRPr>
          </a:p>
          <a:p>
            <a:pPr algn="l">
              <a:defRPr sz="1200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200" b="0" noProof="0" dirty="0" err="1">
                <a:solidFill>
                  <a:srgbClr val="062B35"/>
                </a:solidFill>
                <a:latin typeface="Aptos"/>
                <a:ea typeface="Aptos"/>
                <a:cs typeface="Aptos"/>
              </a:rPr>
              <a:t>T_update</a:t>
            </a:r>
            <a:r>
              <a:rPr lang="ru-RU" sz="1200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 = 0.093 с</a:t>
            </a:r>
          </a:p>
        </p:txBody>
      </p:sp>
      <p:pic>
        <p:nvPicPr>
          <p:cNvPr id="57" name="Рисунок 5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282444" y="2343150"/>
            <a:ext cx="6865612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0325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B15ED52-F352-441B-82BF-E0EA34836D0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2E3793-BFE6-45A2-9B7B-E18844431C99}"/>
              </a:ext>
            </a:extLst>
          </p:cNvPr>
          <p:cNvSpPr>
            <a:spLocks noGrp="1"/>
          </p:cNvSpPr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4C4868-CB8F-4AF9-9CDB-8108F2C19B67}"/>
              </a:ext>
            </a:extLst>
          </p:cNvPr>
          <p:cNvSpPr>
            <a:spLocks noGrp="1"/>
          </p:cNvSpPr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5E0459-6403-40CD-989D-56A4407CA12E}"/>
              </a:ext>
            </a:extLst>
          </p:cNvPr>
          <p:cNvSpPr>
            <a:spLocks noGrp="1"/>
          </p:cNvSpPr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E5B1A8-3AC9-4BD1-9BBC-78CA94F2D1BA}"/>
              </a:ext>
            </a:extLst>
          </p:cNvPr>
          <p:cNvSpPr>
            <a:spLocks noGrp="1"/>
          </p:cNvSpPr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786DB13-8AF1-149E-A00B-DC57A49BFF6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04320" y="6455431"/>
            <a:ext cx="445913" cy="365125"/>
          </a:xfrm>
        </p:spPr>
        <p:txBody>
          <a:bodyPr vert="horz" lIns="91440" tIns="45720" rIns="91440" bIns="45720" anchor="ctr">
            <a:normAutofit/>
          </a:bodyPr>
          <a:lstStyle/>
          <a:p>
            <a:pPr>
              <a:spcAft>
                <a:spcPts val="600"/>
              </a:spcAft>
              <a:buNone/>
            </a:pPr>
            <a:endParaRPr lang="ru-RU" noProof="0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36AD980-0866-4940-8ED6-BBA031E64418}"/>
              </a:ext>
            </a:extLst>
          </p:cNvPr>
          <p:cNvSpPr>
            <a:spLocks noGrp="1"/>
          </p:cNvSpPr>
          <p:nvPr/>
        </p:nvSpPr>
        <p:spPr>
          <a:xfrm>
            <a:off x="800100" y="609600"/>
            <a:ext cx="9715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3150" b="0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Экономический эффект и выводы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95443C4-8F6B-4585-B69D-F14BD65B4D0B}"/>
              </a:ext>
            </a:extLst>
          </p:cNvPr>
          <p:cNvSpPr>
            <a:spLocks noGrp="1"/>
          </p:cNvSpPr>
          <p:nvPr/>
        </p:nvSpPr>
        <p:spPr>
          <a:xfrm>
            <a:off x="990600" y="2571750"/>
            <a:ext cx="2857500" cy="1200150"/>
          </a:xfrm>
          <a:prstGeom prst="rect">
            <a:avLst/>
          </a:prstGeom>
          <a:solidFill>
            <a:srgbClr val="F7FBFC"/>
          </a:solidFill>
          <a:ln w="10478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0928B40-C30D-44E0-ABC6-7F61665095BA}"/>
              </a:ext>
            </a:extLst>
          </p:cNvPr>
          <p:cNvSpPr>
            <a:spLocks noGrp="1"/>
          </p:cNvSpPr>
          <p:nvPr/>
        </p:nvSpPr>
        <p:spPr>
          <a:xfrm>
            <a:off x="1162050" y="2724150"/>
            <a:ext cx="25146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D96C3D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1875" b="1" noProof="0" dirty="0">
                <a:solidFill>
                  <a:srgbClr val="D96C3D"/>
                </a:solidFill>
                <a:latin typeface="Aptos Display"/>
                <a:ea typeface="Aptos Display"/>
                <a:cs typeface="Aptos Display"/>
              </a:rPr>
              <a:t>450000 </a:t>
            </a:r>
            <a:r>
              <a:rPr lang="ru-RU" sz="1875" b="1" noProof="0" dirty="0" err="1">
                <a:solidFill>
                  <a:srgbClr val="D96C3D"/>
                </a:solidFill>
                <a:latin typeface="Aptos Display"/>
                <a:ea typeface="Aptos Display"/>
                <a:cs typeface="Aptos Display"/>
              </a:rPr>
              <a:t>руб</a:t>
            </a:r>
            <a:r>
              <a:rPr lang="ru-RU" sz="1875" b="1" noProof="0" dirty="0">
                <a:solidFill>
                  <a:srgbClr val="D96C3D"/>
                </a:solidFill>
                <a:latin typeface="Aptos Display"/>
                <a:ea typeface="Aptos Display"/>
                <a:cs typeface="Aptos Display"/>
              </a:rPr>
              <a:t>/год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15BE21F-DD12-4EBF-BC14-CAFD22A38CE6}"/>
              </a:ext>
            </a:extLst>
          </p:cNvPr>
          <p:cNvSpPr>
            <a:spLocks noGrp="1"/>
          </p:cNvSpPr>
          <p:nvPr/>
        </p:nvSpPr>
        <p:spPr>
          <a:xfrm>
            <a:off x="1162050" y="3124200"/>
            <a:ext cx="2514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расчетный эффект от снижения потерь и простоев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67C41175-2D34-4358-8F0F-57DE164B5411}"/>
              </a:ext>
            </a:extLst>
          </p:cNvPr>
          <p:cNvSpPr>
            <a:spLocks noGrp="1"/>
          </p:cNvSpPr>
          <p:nvPr/>
        </p:nvSpPr>
        <p:spPr>
          <a:xfrm>
            <a:off x="4667250" y="2571750"/>
            <a:ext cx="2857500" cy="1200150"/>
          </a:xfrm>
          <a:prstGeom prst="rect">
            <a:avLst/>
          </a:prstGeom>
          <a:solidFill>
            <a:srgbClr val="F7FBFC"/>
          </a:solidFill>
          <a:ln w="10478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C0FB412D-D7D0-42CC-8C48-576E86F7DED9}"/>
              </a:ext>
            </a:extLst>
          </p:cNvPr>
          <p:cNvSpPr>
            <a:spLocks noGrp="1"/>
          </p:cNvSpPr>
          <p:nvPr/>
        </p:nvSpPr>
        <p:spPr>
          <a:xfrm>
            <a:off x="4838700" y="2724150"/>
            <a:ext cx="25146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2D9A6A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2250" b="1" noProof="0" dirty="0">
                <a:solidFill>
                  <a:srgbClr val="2D9A6A"/>
                </a:solidFill>
                <a:latin typeface="Aptos Display"/>
                <a:ea typeface="Aptos Display"/>
                <a:cs typeface="Aptos Display"/>
              </a:rPr>
              <a:t>1.0 год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B15BE7-9E60-4E6C-8A47-5A3362C2967D}"/>
              </a:ext>
            </a:extLst>
          </p:cNvPr>
          <p:cNvSpPr>
            <a:spLocks noGrp="1"/>
          </p:cNvSpPr>
          <p:nvPr/>
        </p:nvSpPr>
        <p:spPr>
          <a:xfrm>
            <a:off x="4838700" y="3124200"/>
            <a:ext cx="2514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ориентировочный срок окупаемости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62100B-362F-446F-B369-43A619E29317}"/>
              </a:ext>
            </a:extLst>
          </p:cNvPr>
          <p:cNvSpPr>
            <a:spLocks noGrp="1"/>
          </p:cNvSpPr>
          <p:nvPr/>
        </p:nvSpPr>
        <p:spPr>
          <a:xfrm>
            <a:off x="8343900" y="2571750"/>
            <a:ext cx="2857500" cy="1200150"/>
          </a:xfrm>
          <a:prstGeom prst="rect">
            <a:avLst/>
          </a:prstGeom>
          <a:solidFill>
            <a:srgbClr val="F7FBFC"/>
          </a:solidFill>
          <a:ln w="10478">
            <a:solidFill>
              <a:srgbClr val="CDE5EC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CE9BD52-C232-4696-947F-1355F8DE8056}"/>
              </a:ext>
            </a:extLst>
          </p:cNvPr>
          <p:cNvSpPr>
            <a:spLocks noGrp="1"/>
          </p:cNvSpPr>
          <p:nvPr/>
        </p:nvSpPr>
        <p:spPr>
          <a:xfrm>
            <a:off x="8515350" y="2724150"/>
            <a:ext cx="25146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3369C7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1875" b="1" noProof="0" dirty="0" err="1">
                <a:solidFill>
                  <a:srgbClr val="3369C7"/>
                </a:solidFill>
                <a:latin typeface="Aptos Display"/>
                <a:ea typeface="Aptos Display"/>
                <a:cs typeface="Aptos Display"/>
              </a:rPr>
              <a:t>K_pred</a:t>
            </a:r>
            <a:r>
              <a:rPr lang="ru-RU" sz="1875" b="1" noProof="0" dirty="0">
                <a:solidFill>
                  <a:srgbClr val="3369C7"/>
                </a:solidFill>
                <a:latin typeface="Aptos Display"/>
                <a:ea typeface="Aptos Display"/>
                <a:cs typeface="Aptos Display"/>
              </a:rPr>
              <a:t> = 1.000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918D3896-2E84-42A2-B7E4-29D93A60D1F2}"/>
              </a:ext>
            </a:extLst>
          </p:cNvPr>
          <p:cNvSpPr>
            <a:spLocks noGrp="1"/>
          </p:cNvSpPr>
          <p:nvPr/>
        </p:nvSpPr>
        <p:spPr>
          <a:xfrm>
            <a:off x="8515350" y="3124200"/>
            <a:ext cx="2514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062B35"/>
                </a:solidFill>
                <a:latin typeface="Aptos"/>
                <a:ea typeface="Aptos"/>
                <a:cs typeface="Aptos"/>
              </a:defRPr>
            </a:pPr>
            <a:r>
              <a:rPr lang="ru-RU" sz="1125" b="0" noProof="0" dirty="0">
                <a:solidFill>
                  <a:srgbClr val="062B35"/>
                </a:solidFill>
                <a:latin typeface="Aptos"/>
                <a:ea typeface="Aptos"/>
                <a:cs typeface="Aptos"/>
              </a:rPr>
              <a:t>прогноз доступен для проверенных данных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823B6AE-6E22-4707-A939-D838D16D4A75}"/>
              </a:ext>
            </a:extLst>
          </p:cNvPr>
          <p:cNvSpPr>
            <a:spLocks noGrp="1"/>
          </p:cNvSpPr>
          <p:nvPr/>
        </p:nvSpPr>
        <p:spPr>
          <a:xfrm>
            <a:off x="1390650" y="4286250"/>
            <a:ext cx="94869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ru-RU" sz="1650" b="0" noProof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Разработан ПАК от цифровой модели до мониторинга оператора.</a:t>
            </a:r>
          </a:p>
          <a:p>
            <a:pPr algn="l">
              <a:defRPr sz="16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ru-RU" sz="1650" b="0" noProof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Получены проверяемые данные, признаки деградации и прогноз RUL.</a:t>
            </a:r>
          </a:p>
          <a:p>
            <a:pPr algn="l">
              <a:defRPr sz="16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ru-RU" sz="1650" b="0" noProof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• Результаты подтверждают практическую применимость PdM для участка паллетизации.</a:t>
            </a:r>
          </a:p>
        </p:txBody>
      </p:sp>
    </p:spTree>
    <p:extLst>
      <p:ext uri="{BB962C8B-B14F-4D97-AF65-F5344CB8AC3E}">
        <p14:creationId xmlns:p14="http://schemas.microsoft.com/office/powerpoint/2010/main" val="24939427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F5A5072-7B47-4D32-B52A-4EBBF590B8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 w="12700" cmpd="sng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15DAF0-AE1B-46C9-8A6B-DB2AA05AB91D}"/>
              </a:ext>
            </a:extLst>
          </p:cNvPr>
          <p:cNvSpPr>
            <a:spLocks noGrp="1"/>
          </p:cNvSpPr>
          <p:nvPr/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16219D-510E-4184-9090-6D5578A87BD1}"/>
              </a:ext>
            </a:extLst>
          </p:cNvPr>
          <p:cNvSpPr>
            <a:spLocks noGrp="1"/>
          </p:cNvSpPr>
          <p:nvPr/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F4A713-7B75-4B21-90D7-5AB19547C728}"/>
              </a:ext>
            </a:extLst>
          </p:cNvPr>
          <p:cNvSpPr>
            <a:spLocks noGrp="1"/>
          </p:cNvSpPr>
          <p:nvPr/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C631C0B-6DA6-4E57-8231-CE32B3434A7E}"/>
              </a:ext>
            </a:extLst>
          </p:cNvPr>
          <p:cNvSpPr>
            <a:spLocks noGrp="1"/>
          </p:cNvSpPr>
          <p:nvPr/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29501E6-A978-4A61-9689-9085AF97A53A}"/>
              </a:ext>
            </a:extLst>
          </p:cNvPr>
          <p:cNvSpPr>
            <a:spLocks noGrp="1"/>
          </p:cNvSpPr>
          <p:nvPr/>
        </p:nvSpPr>
        <p:spPr>
          <a:xfrm rot="12508972">
            <a:off x="5945431" y="-1032053"/>
            <a:ext cx="4990147" cy="4439131"/>
          </a:xfrm>
          <a:custGeom>
            <a:avLst/>
            <a:gdLst/>
            <a:ahLst/>
            <a:cxnLst/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415939-E71F-68FD-F7F8-5942F72DF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0" tIns="0" rIns="0" bIns="0" anchor="b">
            <a:normAutofit/>
          </a:bodyPr>
          <a:lstStyle/>
          <a:p>
            <a:r>
              <a:rPr lang="ru-RU" sz="3150" b="0" noProof="0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Спасибо за внимание!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3525A21-9F44-77FB-7CC5-3034A734E22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04320" y="6446837"/>
            <a:ext cx="448056" cy="365125"/>
          </a:xfrm>
        </p:spPr>
        <p:txBody>
          <a:bodyPr vert="horz" lIns="91440" tIns="45720" rIns="91440" bIns="45720" anchor="ctr">
            <a:normAutofit/>
          </a:bodyPr>
          <a:lstStyle/>
          <a:p>
            <a:pPr>
              <a:spcAft>
                <a:spcPts val="600"/>
              </a:spcAft>
              <a:buNone/>
            </a:pPr>
            <a:endParaRPr lang="ru-RU" noProof="0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B11A7ED-767B-4D87-B060-72CDE8259AE9}"/>
              </a:ext>
            </a:extLst>
          </p:cNvPr>
          <p:cNvSpPr>
            <a:spLocks noGrp="1"/>
          </p:cNvSpPr>
          <p:nvPr/>
        </p:nvSpPr>
        <p:spPr>
          <a:xfrm>
            <a:off x="3905250" y="4552950"/>
            <a:ext cx="4762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ru-RU" sz="1650" b="0" noProof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Миронов Е.М. | РК9-83Б | 2026</a:t>
            </a:r>
          </a:p>
        </p:txBody>
      </p:sp>
    </p:spTree>
    <p:extLst>
      <p:ext uri="{BB962C8B-B14F-4D97-AF65-F5344CB8AC3E}">
        <p14:creationId xmlns:p14="http://schemas.microsoft.com/office/powerpoint/2010/main" val="440476890"/>
      </p:ext>
    </p:extLst>
  </p:cSld>
  <p:clrMapOvr>
    <a:masterClrMapping/>
  </p:clrMapOvr>
</p:sld>
</file>

<file path=ppt/theme/theme1.xml><?xml version="1.0" encoding="utf-8"?>
<a:theme xmlns:a="http://schemas.openxmlformats.org/drawingml/2006/main" name="Стандартная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тандартная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</TotalTime>
  <Words>496</Words>
  <Application>Microsoft Office PowerPoint</Application>
  <DocSecurity>0</DocSecurity>
  <PresentationFormat>Широкоэкранный</PresentationFormat>
  <Paragraphs>130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0" baseType="lpstr">
      <vt:lpstr>Aptos</vt:lpstr>
      <vt:lpstr>Aptos Display</vt:lpstr>
      <vt:lpstr>Стандартная</vt:lpstr>
      <vt:lpstr>Разработка программно-аппаратного комплекса предиктивного обслуживания узлов робота-паллетизатора</vt:lpstr>
      <vt:lpstr>Актуальность</vt:lpstr>
      <vt:lpstr>Цель и задачи</vt:lpstr>
      <vt:lpstr>Производственная линия</vt:lpstr>
      <vt:lpstr>Участок паллетизации</vt:lpstr>
      <vt:lpstr>Объект исследования</vt:lpstr>
      <vt:lpstr>Концепция PdM</vt:lpstr>
      <vt:lpstr>Цифровая модель в CoppeliaSim</vt:lpstr>
      <vt:lpstr>Телеметрия и диагностические признаки</vt:lpstr>
      <vt:lpstr>Архитектура разработанного ПАК</vt:lpstr>
      <vt:lpstr>Алгоритм оценки RUL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егор миронов</cp:lastModifiedBy>
  <cp:revision>1</cp:revision>
  <dcterms:created xsi:type="dcterms:W3CDTF">2026-05-26T19:45:15Z</dcterms:created>
  <dcterms:modified xsi:type="dcterms:W3CDTF">2026-05-29T03:03:00Z</dcterms:modified>
</cp:coreProperties>
</file>