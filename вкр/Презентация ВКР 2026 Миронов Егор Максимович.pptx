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4" autoAdjust="0"/>
  </p:normalViewPr>
  <p:slideViewPr>
    <p:cSldViewPr snapToGrid="0">
      <p:cViewPr varScale="1">
        <p:scale>
          <a:sx n="150" d="100"/>
          <a:sy n="150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9E766B-4DD3-34AA-CF6B-40459D753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endParaRPr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4072F4-C28B-9467-220B-95609CA097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endParaRPr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6E790C5-6A17-CF36-2CA7-69D7DCA4571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304786-26E7-A0A0-1DE1-AB0C9E1214A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F953E8A-FF6D-E92A-441C-B5A9AC13866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057C3D-D7BB-E069-8EF7-C3BE1D0B0B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E27AD6-EFB8-5320-6197-A5A4004D1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FA7B37E-1358-E14F-2386-F77B263BE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endParaRPr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7455D1-3EA0-C90A-3FDB-E4C19C98BF2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E4148A-F12D-FC11-4C9B-F638C19616F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E66BF2-14ED-668E-5F4A-7FD4FF63A0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B9E2853-9C39-ACF5-FE79-2531AA50D3D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9375221-E59A-2A94-96C7-7514AB94DB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C86B9A9-BA17-9EAE-DDAD-4DC3D96ABE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71E78F-7F27-9558-8AC8-A745354D3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FB8FB22-919E-CC91-6649-A893E26C3C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1DA26F-72CA-0AAC-1FBF-2A65F6EAE12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6B7990-E52A-DCBE-E3F1-4FB7D1FFBD1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7F7B4E7-B01A-E690-0034-2729C3EC13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CBB52C-6B28-9EC0-DB08-78E0AD7C5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154067-B666-385B-C3F9-352EB41044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A36594-D6CA-466F-EF29-3DFCFFB8306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15131FA-13BC-288A-B3E0-6113720F5FF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580F63-9C83-3F8D-AB11-2EB75248F96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579B08-7C29-357E-2C88-56850DF04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1BE72FE-C40D-6CCA-E55C-5C1458523B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36CEADA-8D73-0A76-F6E2-C530643870B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52219D5-2048-C832-BB21-8BD65A86DF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6C3C3D8-1060-3E49-A443-95C7DF259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endParaRPr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8B47937-D84B-9E84-01B2-884ADA1BC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endParaRPr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8BBF6B-F5D4-74FA-7CEC-7FCA308F2FF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2ACBD1-19DA-C202-C4F0-B3EFAA9265D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4B3276-1015-4762-1D7A-9176A1EE33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B29D94-19A8-47D9-D4D1-228BC2402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8028CF-BEFE-2409-77C9-2661452D7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endParaRPr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8321B26-B35B-321A-F8F6-AC2BBF0113AC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endParaRPr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A7AD705-8FF9-5990-81FA-E0E139C22365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endParaRPr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6180D4A-6EC8-AC2C-165F-8CB1B4E90874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endParaRPr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BAA14EC-54EC-4EB5-B40B-CBB05E7CC2A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8532A3C-EE24-6023-9E91-7A228A471C6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654E412-90FB-B12E-F7F3-39EA48F32F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EEBFD4-2EA4-7392-B798-31D6DC3FA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34B4BCB-BE49-FECA-659F-FECB6D0FBD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endParaRPr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AEF2B45-F158-F653-F706-43C44859484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4B70ABF-6EF9-1914-6E82-3D07A39ADC0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77A0AD-FAA9-4CBB-766E-AD306C55B0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52BEC6-6FC7-FCC7-F29E-FA4623763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261165C-A9A6-6161-DBBC-4CC6E5D162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A60546F-F0B6-7888-5522-B2037794621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5666F81-3DD1-A647-E55D-CB0AB9C6071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371CC9-97C2-3127-6291-95A436FA319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440D24F-39E2-C9BC-72EE-4FF67769C0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6E65ED-38AE-93C1-1992-EF9192DA6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endParaRPr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E1E9B70-C7BF-95A7-9512-6E6060E7D0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9749B92-3E1C-5C04-B7DF-9C65A9B8115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242E6E2-543C-F8A4-9BC2-8EFA19F98D3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C6C466-80F4-D7AA-B2F3-3782CD7C30D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2979730-A7E9-EB25-049A-A5D2185728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389766-00ED-247B-535F-C12375210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endParaRPr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BBCDF3B-5702-989C-C68B-AFD1D7C1CB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endParaRPr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4BF2AB-924F-28AC-7C76-75CFA2F3C4E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3A9E061-7919-CDD6-C6AB-41D8351F98F6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23ADCC-7A6E-A2F3-011F-45BE8CE5F04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77D6B2E-37A3-429E-A37C-F30ED64872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</a:extLst>
          </p:cNvPr>
          <p:cNvSpPr>
            <a:spLocks noGrp="1"/>
          </p:cNvSpPr>
          <p:nvPr/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</a:extLst>
          </p:cNvPr>
          <p:cNvSpPr>
            <a:spLocks noGrp="1"/>
          </p:cNvSpPr>
          <p:nvPr/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</a:extLst>
          </p:cNvPr>
          <p:cNvSpPr>
            <a:spLocks noGrp="1"/>
          </p:cNvSpPr>
          <p:nvPr/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64D5D5-227B-4F66-9AEA-46F570E793BD}"/>
              </a:ext>
            </a:extLst>
          </p:cNvPr>
          <p:cNvSpPr>
            <a:spLocks noGrp="1"/>
          </p:cNvSpPr>
          <p:nvPr/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6B67A4-D328-4747-A82B-65E84FA46368}"/>
              </a:ext>
            </a:extLst>
          </p:cNvPr>
          <p:cNvSpPr>
            <a:spLocks noGrp="1"/>
          </p:cNvSpPr>
          <p:nvPr/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A1B09C-1565-46F8-B70F-621C5EB48A09}"/>
              </a:ext>
            </a:extLst>
          </p:cNvPr>
          <p:cNvSpPr>
            <a:spLocks noGrp="1"/>
          </p:cNvSpPr>
          <p:nvPr/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05E482-5E54-788D-0AC3-9F519A39C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62567" y="818984"/>
            <a:ext cx="6714699" cy="3178689"/>
          </a:xfrm>
        </p:spPr>
        <p:txBody>
          <a:bodyPr>
            <a:normAutofit/>
          </a:bodyPr>
          <a:lstStyle/>
          <a:p>
            <a:pPr algn="l">
              <a:buNone/>
            </a:pPr>
            <a:r>
              <a:rPr lang="ru-RU" sz="2850" noProof="0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Разработка программно-аппаратного комплекса предиктивного обслуживания узлов робота-паллетизатора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C516CC8-80AC-446C-A56E-9F54B7210402}"/>
              </a:ext>
            </a:extLst>
          </p:cNvPr>
          <p:cNvSpPr>
            <a:spLocks noGrp="1"/>
          </p:cNvSpPr>
          <p:nvPr/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8B138F1-413E-EFD5-38CA-CF6CB9623E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85397" y="4960961"/>
            <a:ext cx="7055893" cy="1078054"/>
          </a:xfrm>
        </p:spPr>
        <p:txBody>
          <a:bodyPr>
            <a:normAutofit fontScale="58158" lnSpcReduction="20000"/>
          </a:bodyPr>
          <a:lstStyle/>
          <a:p>
            <a:pPr algn="l">
              <a:buNone/>
            </a:pPr>
            <a:r>
              <a:rPr lang="ru-RU" sz="280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Миронов Е.М. группа РК9-83Б</a:t>
            </a:r>
          </a:p>
          <a:p>
            <a:pPr algn="l">
              <a:buNone/>
            </a:pPr>
            <a:r>
              <a:rPr lang="ru-RU" sz="280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Научный руководитель – Сащенко Д.В.</a:t>
            </a:r>
          </a:p>
          <a:p>
            <a:pPr algn="l">
              <a:buNone/>
            </a:pPr>
            <a:endParaRPr lang="ru-RU" sz="1500" noProof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  <a:p>
            <a:pPr algn="r">
              <a:buNone/>
            </a:pPr>
            <a:r>
              <a:rPr lang="ru-RU" sz="150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8126836-6F06-ECC3-5FDF-A56941CDB9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9174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</a:extLst>
          </p:cNvPr>
          <p:cNvSpPr>
            <a:spLocks noGrp="1"/>
          </p:cNvSpPr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2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</a:extLst>
          </p:cNvPr>
          <p:cNvSpPr>
            <a:spLocks noGrp="1"/>
          </p:cNvSpPr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</a:extLst>
          </p:cNvPr>
          <p:cNvSpPr>
            <a:spLocks noGrp="1"/>
          </p:cNvSpPr>
          <p:nvPr/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DCE2C1-F6F0-5B93-CE79-804D02AF3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lIns="0" tIns="0" rIns="0" bIns="0" anchor="ctr">
            <a:normAutofit/>
          </a:bodyPr>
          <a:lstStyle/>
          <a:p>
            <a:r>
              <a:rPr lang="ru-RU" sz="3150" b="0" noProof="0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Актуальность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E813C11-A86A-87F0-97CF-FFFEA8B2D84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273"/>
            <a:ext cx="2743200" cy="365125"/>
          </a:xfrm>
        </p:spPr>
        <p:txBody>
          <a:bodyPr/>
          <a:lstStyle/>
          <a:p>
            <a:r>
              <a:rPr lang="ru-RU" noProof="0" dirty="0"/>
              <a:t>2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83ECBB2-81BF-4EE6-93B6-C589B6DD82D2}"/>
              </a:ext>
            </a:extLst>
          </p:cNvPr>
          <p:cNvSpPr>
            <a:spLocks noGrp="1"/>
          </p:cNvSpPr>
          <p:nvPr/>
        </p:nvSpPr>
        <p:spPr>
          <a:xfrm>
            <a:off x="876300" y="2724150"/>
            <a:ext cx="2381250" cy="1476375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17CFDBA2-C465-4B24-A77D-CB40D773AE70}"/>
              </a:ext>
            </a:extLst>
          </p:cNvPr>
          <p:cNvSpPr>
            <a:spLocks noGrp="1"/>
          </p:cNvSpPr>
          <p:nvPr/>
        </p:nvSpPr>
        <p:spPr>
          <a:xfrm>
            <a:off x="876300" y="2724150"/>
            <a:ext cx="66675" cy="1476375"/>
          </a:xfrm>
          <a:prstGeom prst="rect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9F85D322-1B8B-49D5-A421-6CC258A2E1D2}"/>
              </a:ext>
            </a:extLst>
          </p:cNvPr>
          <p:cNvSpPr>
            <a:spLocks noGrp="1"/>
          </p:cNvSpPr>
          <p:nvPr/>
        </p:nvSpPr>
        <p:spPr>
          <a:xfrm>
            <a:off x="1085850" y="2895600"/>
            <a:ext cx="1962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Простои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DFF0AD2E-800C-4A69-9431-6D3FB8D471E6}"/>
              </a:ext>
            </a:extLst>
          </p:cNvPr>
          <p:cNvSpPr>
            <a:spLocks noGrp="1"/>
          </p:cNvSpPr>
          <p:nvPr/>
        </p:nvSpPr>
        <p:spPr>
          <a:xfrm>
            <a:off x="1085850" y="3276600"/>
            <a:ext cx="1981200" cy="828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7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останов робота блокирует</a:t>
            </a:r>
          </a:p>
          <a:p>
            <a:pPr algn="l">
              <a:defRPr sz="127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7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выход готовой продукции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3B2F7DFC-90C1-4497-BD95-CA19ABD6E4E2}"/>
              </a:ext>
            </a:extLst>
          </p:cNvPr>
          <p:cNvSpPr>
            <a:spLocks noGrp="1"/>
          </p:cNvSpPr>
          <p:nvPr/>
        </p:nvSpPr>
        <p:spPr>
          <a:xfrm>
            <a:off x="3638550" y="2724150"/>
            <a:ext cx="2381250" cy="1476375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AB115422-B656-46EA-A272-7CF16EFDD493}"/>
              </a:ext>
            </a:extLst>
          </p:cNvPr>
          <p:cNvSpPr>
            <a:spLocks noGrp="1"/>
          </p:cNvSpPr>
          <p:nvPr/>
        </p:nvSpPr>
        <p:spPr>
          <a:xfrm>
            <a:off x="3638550" y="2724150"/>
            <a:ext cx="66675" cy="1476375"/>
          </a:xfrm>
          <a:prstGeom prst="rect">
            <a:avLst/>
          </a:prstGeom>
          <a:solidFill>
            <a:srgbClr val="3369C7"/>
          </a:solidFill>
          <a:ln w="0">
            <a:solidFill>
              <a:srgbClr val="3369C7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AAA6B138-E11E-4E05-AE65-0E55F072320E}"/>
              </a:ext>
            </a:extLst>
          </p:cNvPr>
          <p:cNvSpPr>
            <a:spLocks noGrp="1"/>
          </p:cNvSpPr>
          <p:nvPr/>
        </p:nvSpPr>
        <p:spPr>
          <a:xfrm>
            <a:off x="3848100" y="2895600"/>
            <a:ext cx="1962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Регламент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6980E380-E6DF-490F-A1A9-FA1435EACF35}"/>
              </a:ext>
            </a:extLst>
          </p:cNvPr>
          <p:cNvSpPr>
            <a:spLocks noGrp="1"/>
          </p:cNvSpPr>
          <p:nvPr/>
        </p:nvSpPr>
        <p:spPr>
          <a:xfrm>
            <a:off x="3848100" y="3276600"/>
            <a:ext cx="1981200" cy="828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7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не учитывает фактическое</a:t>
            </a:r>
          </a:p>
          <a:p>
            <a:pPr algn="l">
              <a:defRPr sz="127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7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состояние приводов</a:t>
            </a:r>
          </a:p>
          <a:p>
            <a:pPr algn="l">
              <a:defRPr sz="127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7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и механических узлов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5E338489-57DC-4635-A4A0-8B4A38C6A08E}"/>
              </a:ext>
            </a:extLst>
          </p:cNvPr>
          <p:cNvSpPr>
            <a:spLocks noGrp="1"/>
          </p:cNvSpPr>
          <p:nvPr/>
        </p:nvSpPr>
        <p:spPr>
          <a:xfrm>
            <a:off x="6400800" y="2724150"/>
            <a:ext cx="2381250" cy="1476375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F65EA8AC-033A-42D8-8E42-6FE55C3690D4}"/>
              </a:ext>
            </a:extLst>
          </p:cNvPr>
          <p:cNvSpPr>
            <a:spLocks noGrp="1"/>
          </p:cNvSpPr>
          <p:nvPr/>
        </p:nvSpPr>
        <p:spPr>
          <a:xfrm>
            <a:off x="6400800" y="2724150"/>
            <a:ext cx="66675" cy="1476375"/>
          </a:xfrm>
          <a:prstGeom prst="rect">
            <a:avLst/>
          </a:prstGeom>
          <a:solidFill>
            <a:srgbClr val="2D9A6A"/>
          </a:solidFill>
          <a:ln w="0">
            <a:solidFill>
              <a:srgbClr val="2D9A6A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AA29C2FF-D304-4750-A4AA-ECB40FA96C2E}"/>
              </a:ext>
            </a:extLst>
          </p:cNvPr>
          <p:cNvSpPr>
            <a:spLocks noGrp="1"/>
          </p:cNvSpPr>
          <p:nvPr/>
        </p:nvSpPr>
        <p:spPr>
          <a:xfrm>
            <a:off x="6610350" y="2895600"/>
            <a:ext cx="1962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Телеметрия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66639162-9239-4CE1-8017-E57469CC5FF0}"/>
              </a:ext>
            </a:extLst>
          </p:cNvPr>
          <p:cNvSpPr>
            <a:spLocks noGrp="1"/>
          </p:cNvSpPr>
          <p:nvPr/>
        </p:nvSpPr>
        <p:spPr>
          <a:xfrm>
            <a:off x="6610350" y="3276600"/>
            <a:ext cx="1981200" cy="828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7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момент, скорость, фаза</a:t>
            </a:r>
          </a:p>
          <a:p>
            <a:pPr algn="l">
              <a:defRPr sz="127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7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цикла доступны из модели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0822A5F5-6137-449E-9600-E2181244EA49}"/>
              </a:ext>
            </a:extLst>
          </p:cNvPr>
          <p:cNvSpPr>
            <a:spLocks noGrp="1"/>
          </p:cNvSpPr>
          <p:nvPr/>
        </p:nvSpPr>
        <p:spPr>
          <a:xfrm>
            <a:off x="9163050" y="2724150"/>
            <a:ext cx="2381250" cy="1476375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346DFCAD-A323-4DE3-AA53-E26E80EBA07C}"/>
              </a:ext>
            </a:extLst>
          </p:cNvPr>
          <p:cNvSpPr>
            <a:spLocks noGrp="1"/>
          </p:cNvSpPr>
          <p:nvPr/>
        </p:nvSpPr>
        <p:spPr>
          <a:xfrm>
            <a:off x="9163050" y="2724150"/>
            <a:ext cx="66675" cy="1476375"/>
          </a:xfrm>
          <a:prstGeom prst="rect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1F80E3AC-A9EC-4384-B286-B191ADF76F6F}"/>
              </a:ext>
            </a:extLst>
          </p:cNvPr>
          <p:cNvSpPr>
            <a:spLocks noGrp="1"/>
          </p:cNvSpPr>
          <p:nvPr/>
        </p:nvSpPr>
        <p:spPr>
          <a:xfrm>
            <a:off x="9372600" y="2895600"/>
            <a:ext cx="1962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PdM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8337B373-2D96-4F6E-B4C9-2F35F2D4462E}"/>
              </a:ext>
            </a:extLst>
          </p:cNvPr>
          <p:cNvSpPr>
            <a:spLocks noGrp="1"/>
          </p:cNvSpPr>
          <p:nvPr/>
        </p:nvSpPr>
        <p:spPr>
          <a:xfrm>
            <a:off x="9372600" y="3276600"/>
            <a:ext cx="1981200" cy="828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7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прогноз RUL позволяет</a:t>
            </a:r>
          </a:p>
          <a:p>
            <a:pPr algn="l">
              <a:defRPr sz="127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7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планировать обслуживание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9FF75DAB-CFCF-4DEA-BBE8-AF23265DF146}"/>
              </a:ext>
            </a:extLst>
          </p:cNvPr>
          <p:cNvSpPr>
            <a:spLocks noGrp="1"/>
          </p:cNvSpPr>
          <p:nvPr/>
        </p:nvSpPr>
        <p:spPr>
          <a:xfrm>
            <a:off x="1238250" y="4800600"/>
            <a:ext cx="9906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ru-RU" sz="1650" b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ВКР переводит задачу от статической оценки надежности к проверяемому ПАК с данными, признаками, прогнозом и мониторингом.</a:t>
            </a:r>
          </a:p>
        </p:txBody>
      </p:sp>
    </p:spTree>
    <p:extLst>
      <p:ext uri="{BB962C8B-B14F-4D97-AF65-F5344CB8AC3E}">
        <p14:creationId xmlns:p14="http://schemas.microsoft.com/office/powerpoint/2010/main" val="3222405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</a:extLst>
          </p:cNvPr>
          <p:cNvSpPr>
            <a:spLocks noGrp="1"/>
          </p:cNvSpPr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</a:extLst>
          </p:cNvPr>
          <p:cNvSpPr>
            <a:spLocks noGrp="1"/>
          </p:cNvSpPr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</a:extLst>
          </p:cNvPr>
          <p:cNvSpPr>
            <a:spLocks noGrp="1"/>
          </p:cNvSpPr>
          <p:nvPr/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878984-89D4-C83B-69B2-FD077475A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lIns="0" tIns="0" rIns="0" bIns="0" anchor="ctr">
            <a:normAutofit/>
          </a:bodyPr>
          <a:lstStyle/>
          <a:p>
            <a:r>
              <a:rPr lang="ru-RU" sz="3150" b="0" noProof="0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Цель и задачи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A4D070E-3503-4321-984B-10CBD5BEF674}"/>
              </a:ext>
            </a:extLst>
          </p:cNvPr>
          <p:cNvSpPr>
            <a:spLocks noGrp="1"/>
          </p:cNvSpPr>
          <p:nvPr/>
        </p:nvSpPr>
        <p:spPr>
          <a:xfrm>
            <a:off x="876300" y="2609850"/>
            <a:ext cx="4400550" cy="2381250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30DF269-3EBF-42FF-A3C4-5F0EB7E092B5}"/>
              </a:ext>
            </a:extLst>
          </p:cNvPr>
          <p:cNvSpPr>
            <a:spLocks noGrp="1"/>
          </p:cNvSpPr>
          <p:nvPr/>
        </p:nvSpPr>
        <p:spPr>
          <a:xfrm>
            <a:off x="876300" y="2609850"/>
            <a:ext cx="66675" cy="2381250"/>
          </a:xfrm>
          <a:prstGeom prst="rect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4FF61A98-2DA6-45A1-9CFA-0F4F14D74F28}"/>
              </a:ext>
            </a:extLst>
          </p:cNvPr>
          <p:cNvSpPr>
            <a:spLocks noGrp="1"/>
          </p:cNvSpPr>
          <p:nvPr/>
        </p:nvSpPr>
        <p:spPr>
          <a:xfrm>
            <a:off x="1085850" y="2781300"/>
            <a:ext cx="39814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Цель работы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1E95B39B-5A40-40C0-9D65-75F20EC00671}"/>
              </a:ext>
            </a:extLst>
          </p:cNvPr>
          <p:cNvSpPr>
            <a:spLocks noGrp="1"/>
          </p:cNvSpPr>
          <p:nvPr/>
        </p:nvSpPr>
        <p:spPr>
          <a:xfrm>
            <a:off x="1085850" y="3162300"/>
            <a:ext cx="4000500" cy="1733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35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Разработать и апробировать прототип ПАК</a:t>
            </a:r>
          </a:p>
          <a:p>
            <a:pPr algn="l">
              <a:defRPr sz="135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35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предиктивного обслуживания узлов робота-паллетизатора</a:t>
            </a:r>
          </a:p>
          <a:p>
            <a:pPr algn="l">
              <a:defRPr sz="135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35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на базе цифровой модели, телеметрии и прогноза RUL.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A916D1C3-774E-435C-B5F5-A2B0324BCD90}"/>
              </a:ext>
            </a:extLst>
          </p:cNvPr>
          <p:cNvSpPr>
            <a:spLocks noGrp="1"/>
          </p:cNvSpPr>
          <p:nvPr/>
        </p:nvSpPr>
        <p:spPr>
          <a:xfrm>
            <a:off x="5829300" y="2609850"/>
            <a:ext cx="5334000" cy="2381250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6D61B717-4FCF-4AD6-8120-56EC9F95C617}"/>
              </a:ext>
            </a:extLst>
          </p:cNvPr>
          <p:cNvSpPr>
            <a:spLocks noGrp="1"/>
          </p:cNvSpPr>
          <p:nvPr/>
        </p:nvSpPr>
        <p:spPr>
          <a:xfrm>
            <a:off x="5829300" y="2609850"/>
            <a:ext cx="66675" cy="2381250"/>
          </a:xfrm>
          <a:prstGeom prst="rect">
            <a:avLst/>
          </a:prstGeom>
          <a:solidFill>
            <a:srgbClr val="3369C7"/>
          </a:solidFill>
          <a:ln w="0">
            <a:solidFill>
              <a:srgbClr val="3369C7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6DFFA5D5-2B5A-43F8-99B1-601E25F83C6F}"/>
              </a:ext>
            </a:extLst>
          </p:cNvPr>
          <p:cNvSpPr>
            <a:spLocks noGrp="1"/>
          </p:cNvSpPr>
          <p:nvPr/>
        </p:nvSpPr>
        <p:spPr>
          <a:xfrm>
            <a:off x="6038850" y="2781300"/>
            <a:ext cx="4914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Ключевые задачи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8C77571E-BB44-4D0C-977A-EE979F8C907C}"/>
              </a:ext>
            </a:extLst>
          </p:cNvPr>
          <p:cNvSpPr>
            <a:spLocks noGrp="1"/>
          </p:cNvSpPr>
          <p:nvPr/>
        </p:nvSpPr>
        <p:spPr>
          <a:xfrm>
            <a:off x="6038850" y="3162300"/>
            <a:ext cx="4933950" cy="1733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35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1. Описать объект и требования к системе.</a:t>
            </a:r>
          </a:p>
          <a:p>
            <a:pPr algn="l">
              <a:defRPr sz="135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35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2. Построить цифровую модель цикла паллетизации.</a:t>
            </a:r>
          </a:p>
          <a:p>
            <a:pPr algn="l">
              <a:defRPr sz="135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35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3. Организовать сбор и обработку телеметрии.</a:t>
            </a:r>
          </a:p>
          <a:p>
            <a:pPr algn="l">
              <a:defRPr sz="135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35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4. Рассчитать признаки деградации и RUL.</a:t>
            </a:r>
          </a:p>
          <a:p>
            <a:pPr algn="l">
              <a:defRPr sz="135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35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5. Проверить качество прогноза и эффект внедрения.</a:t>
            </a:r>
          </a:p>
        </p:txBody>
      </p:sp>
      <p:sp>
        <p:nvSpPr>
          <p:cNvPr id="4" name="Номер слайда 2">
            <a:extLst>
              <a:ext uri="{FF2B5EF4-FFF2-40B4-BE49-F238E27FC236}">
                <a16:creationId xmlns:a16="http://schemas.microsoft.com/office/drawing/2014/main" id="{611E00FB-A969-B30E-19FA-4422D8B1368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273"/>
            <a:ext cx="2743200" cy="365125"/>
          </a:xfrm>
        </p:spPr>
        <p:txBody>
          <a:bodyPr/>
          <a:lstStyle/>
          <a:p>
            <a:r>
              <a:rPr lang="ru-RU" dirty="0"/>
              <a:t>3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070521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B15ED52-F352-441B-82BF-E0EA34836D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</a:extLst>
          </p:cNvPr>
          <p:cNvSpPr>
            <a:spLocks noGrp="1"/>
          </p:cNvSpPr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4C4868-CB8F-4AF9-9CDB-8108F2C19B67}"/>
              </a:ext>
            </a:extLst>
          </p:cNvPr>
          <p:cNvSpPr>
            <a:spLocks noGrp="1"/>
          </p:cNvSpPr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5E0459-6403-40CD-989D-56A4407CA12E}"/>
              </a:ext>
            </a:extLst>
          </p:cNvPr>
          <p:cNvSpPr>
            <a:spLocks noGrp="1"/>
          </p:cNvSpPr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E5B1A8-3AC9-4BD1-9BBC-78CA94F2D1BA}"/>
              </a:ext>
            </a:extLst>
          </p:cNvPr>
          <p:cNvSpPr>
            <a:spLocks noGrp="1"/>
          </p:cNvSpPr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720AE0-9E9A-1907-444A-8295B25F8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lIns="0" tIns="0" rIns="0" bIns="0">
            <a:normAutofit/>
          </a:bodyPr>
          <a:lstStyle/>
          <a:p>
            <a:r>
              <a:rPr lang="ru-RU" sz="3150" b="0" noProof="0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Производственная линия</a:t>
            </a:r>
          </a:p>
        </p:txBody>
      </p:sp>
      <p:pic>
        <p:nvPicPr>
          <p:cNvPr id="20" name="Объект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5949" y="1590741"/>
            <a:ext cx="8220097" cy="5260567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B59FA4B-1852-422E-AEBA-40A4A535D9E2}"/>
              </a:ext>
            </a:extLst>
          </p:cNvPr>
          <p:cNvSpPr>
            <a:spLocks noGrp="1"/>
          </p:cNvSpPr>
          <p:nvPr/>
        </p:nvSpPr>
        <p:spPr>
          <a:xfrm>
            <a:off x="2095500" y="5715000"/>
            <a:ext cx="8020050" cy="819150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F4DC44F1-2506-4D87-B15D-DC4111439369}"/>
              </a:ext>
            </a:extLst>
          </p:cNvPr>
          <p:cNvSpPr>
            <a:spLocks noGrp="1"/>
          </p:cNvSpPr>
          <p:nvPr/>
        </p:nvSpPr>
        <p:spPr>
          <a:xfrm>
            <a:off x="2095500" y="5715000"/>
            <a:ext cx="66675" cy="819150"/>
          </a:xfrm>
          <a:prstGeom prst="rect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1CAFD66-7335-445A-9EC0-C4E3CD16614C}"/>
              </a:ext>
            </a:extLst>
          </p:cNvPr>
          <p:cNvSpPr>
            <a:spLocks noGrp="1"/>
          </p:cNvSpPr>
          <p:nvPr/>
        </p:nvSpPr>
        <p:spPr>
          <a:xfrm>
            <a:off x="2305050" y="5886450"/>
            <a:ext cx="7600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Контекст внедрения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84CAA08-2F6A-4A2F-8BDE-B3BD30F7F7F0}"/>
              </a:ext>
            </a:extLst>
          </p:cNvPr>
          <p:cNvSpPr>
            <a:spLocks noGrp="1"/>
          </p:cNvSpPr>
          <p:nvPr/>
        </p:nvSpPr>
        <p:spPr>
          <a:xfrm>
            <a:off x="2305050" y="6267450"/>
            <a:ext cx="7620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7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Роботизированная паллетизация находится на выходе линии розлива: отказ узла влияет на накопление готовой продукции и простой участка.</a:t>
            </a:r>
          </a:p>
        </p:txBody>
      </p:sp>
      <p:sp>
        <p:nvSpPr>
          <p:cNvPr id="5" name="Номер слайда 2">
            <a:extLst>
              <a:ext uri="{FF2B5EF4-FFF2-40B4-BE49-F238E27FC236}">
                <a16:creationId xmlns:a16="http://schemas.microsoft.com/office/drawing/2014/main" id="{985565D5-E2D3-15C2-301C-86B94DFE739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273"/>
            <a:ext cx="2743200" cy="365125"/>
          </a:xfrm>
        </p:spPr>
        <p:txBody>
          <a:bodyPr/>
          <a:lstStyle/>
          <a:p>
            <a:r>
              <a:rPr lang="ru-RU" dirty="0"/>
              <a:t>4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481599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1">
            <a:extLst>
              <a:ext uri="{FF2B5EF4-FFF2-40B4-BE49-F238E27FC236}">
                <a16:creationId xmlns:a16="http://schemas.microsoft.com/office/drawing/2014/main" id="{1B15ED52-F352-441B-82BF-E0EA34836D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11" name="Rectangle 13">
            <a:extLst>
              <a:ext uri="{FF2B5EF4-FFF2-40B4-BE49-F238E27FC236}">
                <a16:creationId xmlns:a16="http://schemas.microsoft.com/office/drawing/2014/main" id="{3B2E3793-BFE6-45A2-9B7B-E18844431C99}"/>
              </a:ext>
            </a:extLst>
          </p:cNvPr>
          <p:cNvSpPr>
            <a:spLocks noGrp="1"/>
          </p:cNvSpPr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BC4C4868-CB8F-4AF9-9CDB-8108F2C19B67}"/>
              </a:ext>
            </a:extLst>
          </p:cNvPr>
          <p:cNvSpPr>
            <a:spLocks noGrp="1"/>
          </p:cNvSpPr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375E0459-6403-40CD-989D-56A4407CA12E}"/>
              </a:ext>
            </a:extLst>
          </p:cNvPr>
          <p:cNvSpPr>
            <a:spLocks noGrp="1"/>
          </p:cNvSpPr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53E5B1A8-3AC9-4BD1-9BBC-78CA94F2D1BA}"/>
              </a:ext>
            </a:extLst>
          </p:cNvPr>
          <p:cNvSpPr>
            <a:spLocks noGrp="1"/>
          </p:cNvSpPr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748643-93B8-4B8B-40EE-121077DB3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lIns="0" tIns="0" rIns="0" bIns="0">
            <a:normAutofit/>
          </a:bodyPr>
          <a:lstStyle/>
          <a:p>
            <a:r>
              <a:rPr lang="ru-RU" sz="3150" b="0" noProof="0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Участок паллетизации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ACBA3A-9AB2-90FF-6AE1-CEE3F7916D0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732646" y="6492875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ru-RU" noProof="0" dirty="0"/>
              <a:t>5</a:t>
            </a:r>
          </a:p>
        </p:txBody>
      </p:sp>
      <p:pic>
        <p:nvPicPr>
          <p:cNvPr id="20" name="Объект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593" y="1594087"/>
            <a:ext cx="7848810" cy="5267259"/>
          </a:xfrm>
          <a:prstGeom prst="rect">
            <a:avLst/>
          </a:prstGeom>
        </p:spPr>
      </p:pic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1588A92-EAA1-4193-8BCE-B30A23226AE4}"/>
              </a:ext>
            </a:extLst>
          </p:cNvPr>
          <p:cNvSpPr>
            <a:spLocks noGrp="1"/>
          </p:cNvSpPr>
          <p:nvPr/>
        </p:nvSpPr>
        <p:spPr>
          <a:xfrm>
            <a:off x="7696200" y="4953000"/>
            <a:ext cx="3429000" cy="1409700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2650721B-3EC8-4D6F-9AB2-7A46FED0794B}"/>
              </a:ext>
            </a:extLst>
          </p:cNvPr>
          <p:cNvSpPr>
            <a:spLocks noGrp="1"/>
          </p:cNvSpPr>
          <p:nvPr/>
        </p:nvSpPr>
        <p:spPr>
          <a:xfrm>
            <a:off x="7696200" y="4953000"/>
            <a:ext cx="66675" cy="1409700"/>
          </a:xfrm>
          <a:prstGeom prst="rect">
            <a:avLst/>
          </a:prstGeom>
          <a:solidFill>
            <a:srgbClr val="3369C7"/>
          </a:solidFill>
          <a:ln w="0">
            <a:solidFill>
              <a:srgbClr val="3369C7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0B087D9-7319-4F99-9A02-71D108532B1E}"/>
              </a:ext>
            </a:extLst>
          </p:cNvPr>
          <p:cNvSpPr>
            <a:spLocks noGrp="1"/>
          </p:cNvSpPr>
          <p:nvPr/>
        </p:nvSpPr>
        <p:spPr>
          <a:xfrm>
            <a:off x="7905750" y="5124450"/>
            <a:ext cx="3009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Рабочий цикл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DB10F2B-9B21-4197-BBC3-4F1E4CC4EE6D}"/>
              </a:ext>
            </a:extLst>
          </p:cNvPr>
          <p:cNvSpPr>
            <a:spLocks noGrp="1"/>
          </p:cNvSpPr>
          <p:nvPr/>
        </p:nvSpPr>
        <p:spPr>
          <a:xfrm>
            <a:off x="7905750" y="5505450"/>
            <a:ext cx="302895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4 картонных листа</a:t>
            </a:r>
          </a:p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12 упаковок воды за цикл</a:t>
            </a:r>
          </a:p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перемещение загруженного паллета</a:t>
            </a:r>
          </a:p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повторяемые фазы - основа диагностики</a:t>
            </a:r>
          </a:p>
        </p:txBody>
      </p:sp>
    </p:spTree>
    <p:extLst>
      <p:ext uri="{BB962C8B-B14F-4D97-AF65-F5344CB8AC3E}">
        <p14:creationId xmlns:p14="http://schemas.microsoft.com/office/powerpoint/2010/main" val="2665101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01">
            <a:extLst>
              <a:ext uri="{FF2B5EF4-FFF2-40B4-BE49-F238E27FC236}">
                <a16:creationId xmlns:a16="http://schemas.microsoft.com/office/drawing/2014/main" id="{C4285719-470E-454C-AF62-8323075F1F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88952" cy="6858000"/>
          </a:xfrm>
          <a:prstGeom prst="rect">
            <a:avLst/>
          </a:prstGeom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149" name="Rectangle 103">
            <a:extLst>
              <a:ext uri="{FF2B5EF4-FFF2-40B4-BE49-F238E27FC236}">
                <a16:creationId xmlns:a16="http://schemas.microsoft.com/office/drawing/2014/main" id="{CD9FE4EF-C4D8-49A0-B2FF-81D8DB7D8A24}"/>
              </a:ext>
            </a:extLst>
          </p:cNvPr>
          <p:cNvSpPr>
            <a:spLocks noGrp="1"/>
          </p:cNvSpPr>
          <p:nvPr/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150" name="Rectangle 105">
            <a:extLst>
              <a:ext uri="{FF2B5EF4-FFF2-40B4-BE49-F238E27FC236}">
                <a16:creationId xmlns:a16="http://schemas.microsoft.com/office/drawing/2014/main" id="{4300840D-0A0B-4512-BACA-B439D5B9C57C}"/>
              </a:ext>
            </a:extLst>
          </p:cNvPr>
          <p:cNvSpPr>
            <a:spLocks noGrp="1"/>
          </p:cNvSpPr>
          <p:nvPr/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151" name="Rectangle 107">
            <a:extLst>
              <a:ext uri="{FF2B5EF4-FFF2-40B4-BE49-F238E27FC236}">
                <a16:creationId xmlns:a16="http://schemas.microsoft.com/office/drawing/2014/main" id="{D2B78728-A580-49A7-84F9-6EF6F583ADE0}"/>
              </a:ext>
            </a:extLst>
          </p:cNvPr>
          <p:cNvSpPr>
            <a:spLocks noGrp="1"/>
          </p:cNvSpPr>
          <p:nvPr/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152" name="Freeform: Shape 109">
            <a:extLst>
              <a:ext uri="{FF2B5EF4-FFF2-40B4-BE49-F238E27FC236}">
                <a16:creationId xmlns:a16="http://schemas.microsoft.com/office/drawing/2014/main" id="{38FAA1A1-D861-433F-88FA-1E9D6FD31D11}"/>
              </a:ext>
            </a:extLst>
          </p:cNvPr>
          <p:cNvSpPr>
            <a:spLocks noGrp="1"/>
          </p:cNvSpPr>
          <p:nvPr/>
        </p:nvSpPr>
        <p:spPr>
          <a:xfrm rot="20635413">
            <a:off x="-501737" y="969718"/>
            <a:ext cx="3900357" cy="4178958"/>
          </a:xfrm>
          <a:custGeom>
            <a:avLst/>
            <a:gdLst/>
            <a:ahLst/>
            <a:cxnLst/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153" name="Rectangle 111">
            <a:extLst>
              <a:ext uri="{FF2B5EF4-FFF2-40B4-BE49-F238E27FC236}">
                <a16:creationId xmlns:a16="http://schemas.microsoft.com/office/drawing/2014/main" id="{8D71EDA1-87BF-4D5D-AB79-F346FD19278A}"/>
              </a:ext>
            </a:extLst>
          </p:cNvPr>
          <p:cNvSpPr>
            <a:spLocks noGrp="1"/>
          </p:cNvSpPr>
          <p:nvPr/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5FD207-A809-1D31-8998-F4C14D2D4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0" tIns="0" rIns="0" bIns="0" anchor="b">
            <a:normAutofit/>
          </a:bodyPr>
          <a:lstStyle/>
          <a:p>
            <a:pPr algn="r">
              <a:buNone/>
            </a:pPr>
            <a:r>
              <a:rPr lang="ru-RU" sz="3150" b="0" noProof="0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Объект исследования</a:t>
            </a:r>
          </a:p>
        </p:txBody>
      </p:sp>
      <p:pic>
        <p:nvPicPr>
          <p:cNvPr id="155" name="document_534376252401572528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099" y="1968500"/>
            <a:ext cx="5659909" cy="30988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178F2E7-516A-4E79-8B04-6A8D4A6A93E3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3219450" cy="1943100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4D964AAD-6B14-4EF2-848F-94E715B5F783}"/>
              </a:ext>
            </a:extLst>
          </p:cNvPr>
          <p:cNvSpPr>
            <a:spLocks noGrp="1"/>
          </p:cNvSpPr>
          <p:nvPr/>
        </p:nvSpPr>
        <p:spPr>
          <a:xfrm>
            <a:off x="666750" y="4095750"/>
            <a:ext cx="66675" cy="1943100"/>
          </a:xfrm>
          <a:prstGeom prst="rect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280B9FD9-37F2-4A2B-821D-CF7E96086ABF}"/>
              </a:ext>
            </a:extLst>
          </p:cNvPr>
          <p:cNvSpPr>
            <a:spLocks noGrp="1"/>
          </p:cNvSpPr>
          <p:nvPr/>
        </p:nvSpPr>
        <p:spPr>
          <a:xfrm>
            <a:off x="876300" y="4267200"/>
            <a:ext cx="2800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ABB IRB 660-180/3.15</a:t>
            </a:r>
          </a:p>
        </p:txBody>
      </p:sp>
      <p:sp>
        <p:nvSpPr>
          <p:cNvPr id="158" name="Прямоугольник 157">
            <a:extLst>
              <a:ext uri="{FF2B5EF4-FFF2-40B4-BE49-F238E27FC236}">
                <a16:creationId xmlns:a16="http://schemas.microsoft.com/office/drawing/2014/main" id="{F1C5FF9C-C9EB-43FF-8C87-D41996233ABC}"/>
              </a:ext>
            </a:extLst>
          </p:cNvPr>
          <p:cNvSpPr>
            <a:spLocks noGrp="1"/>
          </p:cNvSpPr>
          <p:nvPr/>
        </p:nvSpPr>
        <p:spPr>
          <a:xfrm>
            <a:off x="876300" y="4648200"/>
            <a:ext cx="2819400" cy="1295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грузоподъемность 180 кг</a:t>
            </a:r>
          </a:p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рабочий радиус до 3,15 м</a:t>
            </a:r>
          </a:p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контролируемые приводы: motor1...motor4</a:t>
            </a:r>
          </a:p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переносимая упаковка: 63 кг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83233D9-1246-1D9C-F4C9-24758F878BD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743944" y="6482737"/>
            <a:ext cx="448056" cy="365125"/>
          </a:xfrm>
        </p:spPr>
        <p:txBody>
          <a:bodyPr vert="horz" lIns="91440" tIns="45720" rIns="91440" bIns="45720" anchor="ctr"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ru-RU" noProof="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38350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BACC6370-2D7E-4714-9D71-7542949D7D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68B3F68-107C-434F-AA38-110D5EA91B85}"/>
              </a:ext>
            </a:extLst>
          </p:cNvPr>
          <p:cNvSpPr>
            <a:spLocks noGrp="1"/>
          </p:cNvSpPr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AD0DBB9-1A4B-4391-81D4-CB19F9AB918A}"/>
              </a:ext>
            </a:extLst>
          </p:cNvPr>
          <p:cNvSpPr>
            <a:spLocks noGrp="1"/>
          </p:cNvSpPr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63BBA22-50EA-4C4D-BE05-F1CE4E63AA56}"/>
              </a:ext>
            </a:extLst>
          </p:cNvPr>
          <p:cNvSpPr>
            <a:spLocks noGrp="1"/>
          </p:cNvSpPr>
          <p:nvPr/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B0D7F8-AA65-C7EA-58A6-4FCBB7BD2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lIns="0" tIns="0" rIns="0" bIns="0" anchor="ctr">
            <a:normAutofit/>
          </a:bodyPr>
          <a:lstStyle/>
          <a:p>
            <a:r>
              <a:rPr lang="ru-RU" sz="3150" b="0" noProof="0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Концепция PdM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B874B45-1063-43AD-CFDA-D92EBD9103A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1" y="6492273"/>
            <a:ext cx="2743200" cy="365125"/>
          </a:xfrm>
        </p:spPr>
        <p:txBody>
          <a:bodyPr/>
          <a:lstStyle/>
          <a:p>
            <a:r>
              <a:rPr lang="ru-RU" noProof="0" dirty="0"/>
              <a:t>7</a:t>
            </a:r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CE1385DC-DF59-40EE-8D58-F8CD04319A06}"/>
              </a:ext>
            </a:extLst>
          </p:cNvPr>
          <p:cNvSpPr>
            <a:spLocks noGrp="1"/>
          </p:cNvSpPr>
          <p:nvPr/>
        </p:nvSpPr>
        <p:spPr>
          <a:xfrm>
            <a:off x="876300" y="3009900"/>
            <a:ext cx="2286000" cy="1619250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3C5B4CE3-9CF6-4E8A-A84B-4D62F9003210}"/>
              </a:ext>
            </a:extLst>
          </p:cNvPr>
          <p:cNvSpPr>
            <a:spLocks noGrp="1"/>
          </p:cNvSpPr>
          <p:nvPr/>
        </p:nvSpPr>
        <p:spPr>
          <a:xfrm>
            <a:off x="876300" y="3009900"/>
            <a:ext cx="66675" cy="1619250"/>
          </a:xfrm>
          <a:prstGeom prst="rect">
            <a:avLst/>
          </a:prstGeom>
          <a:solidFill>
            <a:srgbClr val="3369C7"/>
          </a:solidFill>
          <a:ln w="0">
            <a:solidFill>
              <a:srgbClr val="3369C7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4339E1CC-AB96-45EC-B54D-48F998A8ECE5}"/>
              </a:ext>
            </a:extLst>
          </p:cNvPr>
          <p:cNvSpPr>
            <a:spLocks noGrp="1"/>
          </p:cNvSpPr>
          <p:nvPr/>
        </p:nvSpPr>
        <p:spPr>
          <a:xfrm>
            <a:off x="1085850" y="3181350"/>
            <a:ext cx="1866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Сбор данных</a:t>
            </a: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316B1BA1-39CA-4FD4-945E-1B820F73FEC1}"/>
              </a:ext>
            </a:extLst>
          </p:cNvPr>
          <p:cNvSpPr>
            <a:spLocks noGrp="1"/>
          </p:cNvSpPr>
          <p:nvPr/>
        </p:nvSpPr>
        <p:spPr>
          <a:xfrm>
            <a:off x="1085850" y="3562350"/>
            <a:ext cx="18859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момент</a:t>
            </a:r>
          </a:p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скорость</a:t>
            </a:r>
          </a:p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фаза цикла</a:t>
            </a:r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57B95BD2-05A9-4D15-A3FF-4D5CB3D3F6D0}"/>
              </a:ext>
            </a:extLst>
          </p:cNvPr>
          <p:cNvSpPr>
            <a:spLocks noGrp="1"/>
          </p:cNvSpPr>
          <p:nvPr/>
        </p:nvSpPr>
        <p:spPr>
          <a:xfrm>
            <a:off x="3238500" y="3752850"/>
            <a:ext cx="171450" cy="38100"/>
          </a:xfrm>
          <a:prstGeom prst="rect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9" name="Равнобедренный треугольник 68">
            <a:extLst>
              <a:ext uri="{FF2B5EF4-FFF2-40B4-BE49-F238E27FC236}">
                <a16:creationId xmlns:a16="http://schemas.microsoft.com/office/drawing/2014/main" id="{85B2BCB9-8F53-4837-9A5B-626003E52BD9}"/>
              </a:ext>
            </a:extLst>
          </p:cNvPr>
          <p:cNvSpPr>
            <a:spLocks noGrp="1"/>
          </p:cNvSpPr>
          <p:nvPr/>
        </p:nvSpPr>
        <p:spPr>
          <a:xfrm>
            <a:off x="3333750" y="3676650"/>
            <a:ext cx="171450" cy="190500"/>
          </a:xfrm>
          <a:prstGeom prst="triangle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3D67D336-BA5F-409C-A51B-F2061A9B50A0}"/>
              </a:ext>
            </a:extLst>
          </p:cNvPr>
          <p:cNvSpPr>
            <a:spLocks noGrp="1"/>
          </p:cNvSpPr>
          <p:nvPr/>
        </p:nvSpPr>
        <p:spPr>
          <a:xfrm>
            <a:off x="3486150" y="3009900"/>
            <a:ext cx="2286000" cy="1619250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AFFA0EC2-B133-46D9-9ACE-C777681D1623}"/>
              </a:ext>
            </a:extLst>
          </p:cNvPr>
          <p:cNvSpPr>
            <a:spLocks noGrp="1"/>
          </p:cNvSpPr>
          <p:nvPr/>
        </p:nvSpPr>
        <p:spPr>
          <a:xfrm>
            <a:off x="3486150" y="3009900"/>
            <a:ext cx="66675" cy="1619250"/>
          </a:xfrm>
          <a:prstGeom prst="rect">
            <a:avLst/>
          </a:prstGeom>
          <a:solidFill>
            <a:srgbClr val="2D9A6A"/>
          </a:solidFill>
          <a:ln w="0">
            <a:solidFill>
              <a:srgbClr val="2D9A6A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72" name="Прямоугольник 71">
            <a:extLst>
              <a:ext uri="{FF2B5EF4-FFF2-40B4-BE49-F238E27FC236}">
                <a16:creationId xmlns:a16="http://schemas.microsoft.com/office/drawing/2014/main" id="{DFE8CE8F-6068-4924-97C2-89FD57CF232F}"/>
              </a:ext>
            </a:extLst>
          </p:cNvPr>
          <p:cNvSpPr>
            <a:spLocks noGrp="1"/>
          </p:cNvSpPr>
          <p:nvPr/>
        </p:nvSpPr>
        <p:spPr>
          <a:xfrm>
            <a:off x="3695700" y="3181350"/>
            <a:ext cx="1866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Признаки</a:t>
            </a:r>
          </a:p>
        </p:txBody>
      </p:sp>
      <p:sp>
        <p:nvSpPr>
          <p:cNvPr id="73" name="Прямоугольник 72">
            <a:extLst>
              <a:ext uri="{FF2B5EF4-FFF2-40B4-BE49-F238E27FC236}">
                <a16:creationId xmlns:a16="http://schemas.microsoft.com/office/drawing/2014/main" id="{F4355C3E-A4A6-4284-9216-33314ECDFDC9}"/>
              </a:ext>
            </a:extLst>
          </p:cNvPr>
          <p:cNvSpPr>
            <a:spLocks noGrp="1"/>
          </p:cNvSpPr>
          <p:nvPr/>
        </p:nvSpPr>
        <p:spPr>
          <a:xfrm>
            <a:off x="3695700" y="3562350"/>
            <a:ext cx="18859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RMS</a:t>
            </a:r>
          </a:p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энергия</a:t>
            </a:r>
          </a:p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длительность</a:t>
            </a:r>
          </a:p>
        </p:txBody>
      </p:sp>
      <p:sp>
        <p:nvSpPr>
          <p:cNvPr id="74" name="Прямоугольник 73">
            <a:extLst>
              <a:ext uri="{FF2B5EF4-FFF2-40B4-BE49-F238E27FC236}">
                <a16:creationId xmlns:a16="http://schemas.microsoft.com/office/drawing/2014/main" id="{6E8EB5FB-2655-4055-B835-B25699C0F4EF}"/>
              </a:ext>
            </a:extLst>
          </p:cNvPr>
          <p:cNvSpPr>
            <a:spLocks noGrp="1"/>
          </p:cNvSpPr>
          <p:nvPr/>
        </p:nvSpPr>
        <p:spPr>
          <a:xfrm>
            <a:off x="5848350" y="3752850"/>
            <a:ext cx="171450" cy="38100"/>
          </a:xfrm>
          <a:prstGeom prst="rect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75" name="Равнобедренный треугольник 74">
            <a:extLst>
              <a:ext uri="{FF2B5EF4-FFF2-40B4-BE49-F238E27FC236}">
                <a16:creationId xmlns:a16="http://schemas.microsoft.com/office/drawing/2014/main" id="{27DE7F1B-EC77-464A-8012-25ED3794F792}"/>
              </a:ext>
            </a:extLst>
          </p:cNvPr>
          <p:cNvSpPr>
            <a:spLocks noGrp="1"/>
          </p:cNvSpPr>
          <p:nvPr/>
        </p:nvSpPr>
        <p:spPr>
          <a:xfrm>
            <a:off x="5943600" y="3676650"/>
            <a:ext cx="171450" cy="190500"/>
          </a:xfrm>
          <a:prstGeom prst="triangle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76" name="Прямоугольник 75">
            <a:extLst>
              <a:ext uri="{FF2B5EF4-FFF2-40B4-BE49-F238E27FC236}">
                <a16:creationId xmlns:a16="http://schemas.microsoft.com/office/drawing/2014/main" id="{C6482C86-321A-4F5F-8B33-DF306F59B236}"/>
              </a:ext>
            </a:extLst>
          </p:cNvPr>
          <p:cNvSpPr>
            <a:spLocks noGrp="1"/>
          </p:cNvSpPr>
          <p:nvPr/>
        </p:nvSpPr>
        <p:spPr>
          <a:xfrm>
            <a:off x="6096000" y="3009900"/>
            <a:ext cx="2286000" cy="1619250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2713A9AD-F710-4C11-8E58-A6F3F243933C}"/>
              </a:ext>
            </a:extLst>
          </p:cNvPr>
          <p:cNvSpPr>
            <a:spLocks noGrp="1"/>
          </p:cNvSpPr>
          <p:nvPr/>
        </p:nvSpPr>
        <p:spPr>
          <a:xfrm>
            <a:off x="6096000" y="3009900"/>
            <a:ext cx="66675" cy="1619250"/>
          </a:xfrm>
          <a:prstGeom prst="rect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6716FB8B-F005-415A-9D43-32E285F660FA}"/>
              </a:ext>
            </a:extLst>
          </p:cNvPr>
          <p:cNvSpPr>
            <a:spLocks noGrp="1"/>
          </p:cNvSpPr>
          <p:nvPr/>
        </p:nvSpPr>
        <p:spPr>
          <a:xfrm>
            <a:off x="6305550" y="3181350"/>
            <a:ext cx="1866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Прогноз</a:t>
            </a: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8C6B2EEF-7436-4B80-9370-64674A1CAAF1}"/>
              </a:ext>
            </a:extLst>
          </p:cNvPr>
          <p:cNvSpPr>
            <a:spLocks noGrp="1"/>
          </p:cNvSpPr>
          <p:nvPr/>
        </p:nvSpPr>
        <p:spPr>
          <a:xfrm>
            <a:off x="6305550" y="3562350"/>
            <a:ext cx="18859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HI</a:t>
            </a:r>
          </a:p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RUL</a:t>
            </a:r>
          </a:p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порог состояния</a:t>
            </a:r>
          </a:p>
        </p:txBody>
      </p:sp>
      <p:sp>
        <p:nvSpPr>
          <p:cNvPr id="80" name="Прямоугольник 79">
            <a:extLst>
              <a:ext uri="{FF2B5EF4-FFF2-40B4-BE49-F238E27FC236}">
                <a16:creationId xmlns:a16="http://schemas.microsoft.com/office/drawing/2014/main" id="{D9B8B1AA-32FD-4E7D-BB24-DFF397A84536}"/>
              </a:ext>
            </a:extLst>
          </p:cNvPr>
          <p:cNvSpPr>
            <a:spLocks noGrp="1"/>
          </p:cNvSpPr>
          <p:nvPr/>
        </p:nvSpPr>
        <p:spPr>
          <a:xfrm>
            <a:off x="8458200" y="3752850"/>
            <a:ext cx="171450" cy="38100"/>
          </a:xfrm>
          <a:prstGeom prst="rect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81" name="Равнобедренный треугольник 80">
            <a:extLst>
              <a:ext uri="{FF2B5EF4-FFF2-40B4-BE49-F238E27FC236}">
                <a16:creationId xmlns:a16="http://schemas.microsoft.com/office/drawing/2014/main" id="{A87C21EA-F042-4646-846F-6E35A2A1BCD2}"/>
              </a:ext>
            </a:extLst>
          </p:cNvPr>
          <p:cNvSpPr>
            <a:spLocks noGrp="1"/>
          </p:cNvSpPr>
          <p:nvPr/>
        </p:nvSpPr>
        <p:spPr>
          <a:xfrm>
            <a:off x="8553450" y="3676650"/>
            <a:ext cx="171450" cy="190500"/>
          </a:xfrm>
          <a:prstGeom prst="triangle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82" name="Прямоугольник 81">
            <a:extLst>
              <a:ext uri="{FF2B5EF4-FFF2-40B4-BE49-F238E27FC236}">
                <a16:creationId xmlns:a16="http://schemas.microsoft.com/office/drawing/2014/main" id="{4BDA64B5-6917-4B77-87F4-82F2699D75EF}"/>
              </a:ext>
            </a:extLst>
          </p:cNvPr>
          <p:cNvSpPr>
            <a:spLocks noGrp="1"/>
          </p:cNvSpPr>
          <p:nvPr/>
        </p:nvSpPr>
        <p:spPr>
          <a:xfrm>
            <a:off x="8705850" y="3009900"/>
            <a:ext cx="2286000" cy="1619250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83" name="Прямоугольник 82">
            <a:extLst>
              <a:ext uri="{FF2B5EF4-FFF2-40B4-BE49-F238E27FC236}">
                <a16:creationId xmlns:a16="http://schemas.microsoft.com/office/drawing/2014/main" id="{4ED0F1F0-541C-4069-973A-EB112A59FC7F}"/>
              </a:ext>
            </a:extLst>
          </p:cNvPr>
          <p:cNvSpPr>
            <a:spLocks noGrp="1"/>
          </p:cNvSpPr>
          <p:nvPr/>
        </p:nvSpPr>
        <p:spPr>
          <a:xfrm>
            <a:off x="8705850" y="3009900"/>
            <a:ext cx="66675" cy="1619250"/>
          </a:xfrm>
          <a:prstGeom prst="rect">
            <a:avLst/>
          </a:prstGeom>
          <a:solidFill>
            <a:srgbClr val="3369C7"/>
          </a:solidFill>
          <a:ln w="0">
            <a:solidFill>
              <a:srgbClr val="3369C7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84" name="Прямоугольник 83">
            <a:extLst>
              <a:ext uri="{FF2B5EF4-FFF2-40B4-BE49-F238E27FC236}">
                <a16:creationId xmlns:a16="http://schemas.microsoft.com/office/drawing/2014/main" id="{95B87431-4845-41EA-8A4C-C259F9AD0002}"/>
              </a:ext>
            </a:extLst>
          </p:cNvPr>
          <p:cNvSpPr>
            <a:spLocks noGrp="1"/>
          </p:cNvSpPr>
          <p:nvPr/>
        </p:nvSpPr>
        <p:spPr>
          <a:xfrm>
            <a:off x="8915400" y="3181350"/>
            <a:ext cx="1866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85" name="Прямоугольник 84">
            <a:extLst>
              <a:ext uri="{FF2B5EF4-FFF2-40B4-BE49-F238E27FC236}">
                <a16:creationId xmlns:a16="http://schemas.microsoft.com/office/drawing/2014/main" id="{415FD0FF-D5DB-48E8-9E10-5773718BE83E}"/>
              </a:ext>
            </a:extLst>
          </p:cNvPr>
          <p:cNvSpPr>
            <a:spLocks noGrp="1"/>
          </p:cNvSpPr>
          <p:nvPr/>
        </p:nvSpPr>
        <p:spPr>
          <a:xfrm>
            <a:off x="8915400" y="3562350"/>
            <a:ext cx="18859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 err="1">
                <a:solidFill>
                  <a:srgbClr val="062B35"/>
                </a:solidFill>
                <a:latin typeface="Aptos"/>
                <a:ea typeface="Aptos"/>
                <a:cs typeface="Aptos"/>
              </a:rPr>
              <a:t>алерт</a:t>
            </a:r>
            <a:endParaRPr lang="ru-RU" sz="1125" b="0" noProof="0" dirty="0">
              <a:solidFill>
                <a:srgbClr val="062B35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рекомендация</a:t>
            </a:r>
          </a:p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план ТО</a:t>
            </a:r>
          </a:p>
        </p:txBody>
      </p:sp>
      <p:sp>
        <p:nvSpPr>
          <p:cNvPr id="86" name="Прямоугольник 85">
            <a:extLst>
              <a:ext uri="{FF2B5EF4-FFF2-40B4-BE49-F238E27FC236}">
                <a16:creationId xmlns:a16="http://schemas.microsoft.com/office/drawing/2014/main" id="{760F6A18-B2F8-4C8E-92E9-6607C27F8314}"/>
              </a:ext>
            </a:extLst>
          </p:cNvPr>
          <p:cNvSpPr>
            <a:spLocks noGrp="1"/>
          </p:cNvSpPr>
          <p:nvPr/>
        </p:nvSpPr>
        <p:spPr>
          <a:xfrm>
            <a:off x="1285875" y="5191125"/>
            <a:ext cx="9334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ru-RU" sz="1650" b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Система обслуживает не календарный интервал, а фактическую динамику состояния узла.</a:t>
            </a:r>
          </a:p>
        </p:txBody>
      </p:sp>
    </p:spTree>
    <p:extLst>
      <p:ext uri="{BB962C8B-B14F-4D97-AF65-F5344CB8AC3E}">
        <p14:creationId xmlns:p14="http://schemas.microsoft.com/office/powerpoint/2010/main" val="3714788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BACC6370-2D7E-4714-9D71-7542949D7D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68B3F68-107C-434F-AA38-110D5EA91B85}"/>
              </a:ext>
            </a:extLst>
          </p:cNvPr>
          <p:cNvSpPr>
            <a:spLocks noGrp="1"/>
          </p:cNvSpPr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AD0DBB9-1A4B-4391-81D4-CB19F9AB918A}"/>
              </a:ext>
            </a:extLst>
          </p:cNvPr>
          <p:cNvSpPr>
            <a:spLocks noGrp="1"/>
          </p:cNvSpPr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63BBA22-50EA-4C4D-BE05-F1CE4E63AA56}"/>
              </a:ext>
            </a:extLst>
          </p:cNvPr>
          <p:cNvSpPr>
            <a:spLocks noGrp="1"/>
          </p:cNvSpPr>
          <p:nvPr/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B0D7F8-AA65-C7EA-58A6-4FCBB7BD2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lIns="0" tIns="0" rIns="0" bIns="0" anchor="ctr">
            <a:normAutofit/>
          </a:bodyPr>
          <a:lstStyle/>
          <a:p>
            <a:r>
              <a:rPr lang="ru-RU" sz="3150" b="0" noProof="0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Цифровая модель в CoppeliaSim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B874B45-1063-43AD-CFDA-D92EBD9103A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1" y="6492273"/>
            <a:ext cx="2743200" cy="365125"/>
          </a:xfrm>
        </p:spPr>
        <p:txBody>
          <a:bodyPr/>
          <a:lstStyle/>
          <a:p>
            <a:r>
              <a:rPr lang="ru-RU" noProof="0" dirty="0"/>
              <a:t>8</a:t>
            </a:r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8FE44095-B439-40FA-9C91-CA75469B92B1}"/>
              </a:ext>
            </a:extLst>
          </p:cNvPr>
          <p:cNvSpPr>
            <a:spLocks noGrp="1"/>
          </p:cNvSpPr>
          <p:nvPr/>
        </p:nvSpPr>
        <p:spPr>
          <a:xfrm>
            <a:off x="704850" y="2724150"/>
            <a:ext cx="3295650" cy="1257300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ACDE4396-1797-4B6B-A1CD-0E3827690305}"/>
              </a:ext>
            </a:extLst>
          </p:cNvPr>
          <p:cNvSpPr>
            <a:spLocks noGrp="1"/>
          </p:cNvSpPr>
          <p:nvPr/>
        </p:nvSpPr>
        <p:spPr>
          <a:xfrm>
            <a:off x="704850" y="2724150"/>
            <a:ext cx="66675" cy="1257300"/>
          </a:xfrm>
          <a:prstGeom prst="rect">
            <a:avLst/>
          </a:prstGeom>
          <a:solidFill>
            <a:srgbClr val="3369C7"/>
          </a:solidFill>
          <a:ln w="0">
            <a:solidFill>
              <a:srgbClr val="3369C7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E1551895-CE2C-4F23-8D7D-3483913C2F57}"/>
              </a:ext>
            </a:extLst>
          </p:cNvPr>
          <p:cNvSpPr>
            <a:spLocks noGrp="1"/>
          </p:cNvSpPr>
          <p:nvPr/>
        </p:nvSpPr>
        <p:spPr>
          <a:xfrm>
            <a:off x="914400" y="2895600"/>
            <a:ext cx="2876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Состав сцены</a:t>
            </a: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C9864070-5956-4122-A1F1-F8E967F9B6A2}"/>
              </a:ext>
            </a:extLst>
          </p:cNvPr>
          <p:cNvSpPr>
            <a:spLocks noGrp="1"/>
          </p:cNvSpPr>
          <p:nvPr/>
        </p:nvSpPr>
        <p:spPr>
          <a:xfrm>
            <a:off x="914400" y="3276600"/>
            <a:ext cx="28956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робот /</a:t>
            </a:r>
            <a:r>
              <a:rPr lang="ru-RU" sz="1200" b="0" noProof="0" dirty="0" err="1">
                <a:solidFill>
                  <a:srgbClr val="062B35"/>
                </a:solidFill>
                <a:latin typeface="Aptos"/>
                <a:ea typeface="Aptos"/>
                <a:cs typeface="Aptos"/>
              </a:rPr>
              <a:t>base_respondable</a:t>
            </a:r>
            <a:endParaRPr lang="ru-RU" sz="1200" b="0" noProof="0" dirty="0">
              <a:solidFill>
                <a:srgbClr val="062B35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конвейеры бутылок и паллет</a:t>
            </a:r>
          </a:p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шаблоны упаковок и картона</a:t>
            </a:r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DC6590C5-781E-414D-B237-82A08A84A70C}"/>
              </a:ext>
            </a:extLst>
          </p:cNvPr>
          <p:cNvSpPr>
            <a:spLocks noGrp="1"/>
          </p:cNvSpPr>
          <p:nvPr/>
        </p:nvSpPr>
        <p:spPr>
          <a:xfrm>
            <a:off x="704850" y="4210050"/>
            <a:ext cx="3295650" cy="1257300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4B39A238-4A8B-459B-A797-661BDF7957EB}"/>
              </a:ext>
            </a:extLst>
          </p:cNvPr>
          <p:cNvSpPr>
            <a:spLocks noGrp="1"/>
          </p:cNvSpPr>
          <p:nvPr/>
        </p:nvSpPr>
        <p:spPr>
          <a:xfrm>
            <a:off x="704850" y="4210050"/>
            <a:ext cx="66675" cy="1257300"/>
          </a:xfrm>
          <a:prstGeom prst="rect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EB8A46FF-F129-4EE3-AFFA-B48AEE077E1E}"/>
              </a:ext>
            </a:extLst>
          </p:cNvPr>
          <p:cNvSpPr>
            <a:spLocks noGrp="1"/>
          </p:cNvSpPr>
          <p:nvPr/>
        </p:nvSpPr>
        <p:spPr>
          <a:xfrm>
            <a:off x="914400" y="4381500"/>
            <a:ext cx="2876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Цикл паллетизации</a:t>
            </a:r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269D18B8-517D-4828-806A-97A58F27CD6E}"/>
              </a:ext>
            </a:extLst>
          </p:cNvPr>
          <p:cNvSpPr>
            <a:spLocks noGrp="1"/>
          </p:cNvSpPr>
          <p:nvPr/>
        </p:nvSpPr>
        <p:spPr>
          <a:xfrm>
            <a:off x="914400" y="4762500"/>
            <a:ext cx="28956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захват листов и упаковок</a:t>
            </a:r>
          </a:p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укладка слоями</a:t>
            </a:r>
          </a:p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событие </a:t>
            </a:r>
            <a:r>
              <a:rPr lang="ru-RU" sz="1200" b="0" noProof="0" dirty="0" err="1">
                <a:solidFill>
                  <a:srgbClr val="062B35"/>
                </a:solidFill>
                <a:latin typeface="Aptos"/>
                <a:ea typeface="Aptos"/>
                <a:cs typeface="Aptos"/>
              </a:rPr>
              <a:t>cycle_complete</a:t>
            </a:r>
            <a:endParaRPr lang="ru-RU" sz="1200" b="0" noProof="0" dirty="0">
              <a:solidFill>
                <a:srgbClr val="062B35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74" name="Рисунок 7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028420" y="2362200"/>
            <a:ext cx="5507011" cy="369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788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ectangle 56">
            <a:extLst>
              <a:ext uri="{FF2B5EF4-FFF2-40B4-BE49-F238E27FC236}">
                <a16:creationId xmlns:a16="http://schemas.microsoft.com/office/drawing/2014/main" id="{BACC6370-2D7E-4714-9D71-7542949D7D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68B3F68-107C-434F-AA38-110D5EA91B85}"/>
              </a:ext>
            </a:extLst>
          </p:cNvPr>
          <p:cNvSpPr>
            <a:spLocks noGrp="1"/>
          </p:cNvSpPr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AD0DBB9-1A4B-4391-81D4-CB19F9AB918A}"/>
              </a:ext>
            </a:extLst>
          </p:cNvPr>
          <p:cNvSpPr>
            <a:spLocks noGrp="1"/>
          </p:cNvSpPr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63BBA22-50EA-4C4D-BE05-F1CE4E63AA56}"/>
              </a:ext>
            </a:extLst>
          </p:cNvPr>
          <p:cNvSpPr>
            <a:spLocks noGrp="1"/>
          </p:cNvSpPr>
          <p:nvPr/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B0D7F8-AA65-C7EA-58A6-4FCBB7BD2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lIns="0" tIns="0" rIns="0" bIns="0" anchor="ctr">
            <a:normAutofit/>
          </a:bodyPr>
          <a:lstStyle/>
          <a:p>
            <a:r>
              <a:rPr lang="ru-RU" sz="3150" b="0" noProof="0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Телеметрия и диагностические признаки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B874B45-1063-43AD-CFDA-D92EBD9103A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1" y="6496438"/>
            <a:ext cx="2743200" cy="365125"/>
          </a:xfrm>
        </p:spPr>
        <p:txBody>
          <a:bodyPr/>
          <a:lstStyle/>
          <a:p>
            <a:r>
              <a:rPr lang="ru-RU" dirty="0"/>
              <a:t>9</a:t>
            </a:r>
            <a:endParaRPr lang="ru-RU" noProof="0" dirty="0"/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50383A65-6336-4DB3-9B60-50E8F9FD4376}"/>
              </a:ext>
            </a:extLst>
          </p:cNvPr>
          <p:cNvSpPr>
            <a:spLocks noGrp="1"/>
          </p:cNvSpPr>
          <p:nvPr/>
        </p:nvSpPr>
        <p:spPr>
          <a:xfrm>
            <a:off x="762000" y="2647950"/>
            <a:ext cx="3162300" cy="1428750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F0590ED0-E3CD-467A-94E5-0A5E6245A243}"/>
              </a:ext>
            </a:extLst>
          </p:cNvPr>
          <p:cNvSpPr>
            <a:spLocks noGrp="1"/>
          </p:cNvSpPr>
          <p:nvPr/>
        </p:nvSpPr>
        <p:spPr>
          <a:xfrm>
            <a:off x="762000" y="2647950"/>
            <a:ext cx="66675" cy="1428750"/>
          </a:xfrm>
          <a:prstGeom prst="rect">
            <a:avLst/>
          </a:prstGeom>
          <a:solidFill>
            <a:srgbClr val="3369C7"/>
          </a:solidFill>
          <a:ln w="0">
            <a:solidFill>
              <a:srgbClr val="3369C7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BDE61B04-4D84-4BCA-BE72-F1D704608340}"/>
              </a:ext>
            </a:extLst>
          </p:cNvPr>
          <p:cNvSpPr>
            <a:spLocks noGrp="1"/>
          </p:cNvSpPr>
          <p:nvPr/>
        </p:nvSpPr>
        <p:spPr>
          <a:xfrm>
            <a:off x="971550" y="2819400"/>
            <a:ext cx="2743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Собираемые поля</a:t>
            </a: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0CB75FBF-65B1-4D0E-8BF0-DE83F136787B}"/>
              </a:ext>
            </a:extLst>
          </p:cNvPr>
          <p:cNvSpPr>
            <a:spLocks noGrp="1"/>
          </p:cNvSpPr>
          <p:nvPr/>
        </p:nvSpPr>
        <p:spPr>
          <a:xfrm>
            <a:off x="971550" y="3200400"/>
            <a:ext cx="27622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 err="1">
                <a:solidFill>
                  <a:srgbClr val="062B35"/>
                </a:solidFill>
                <a:latin typeface="Aptos"/>
                <a:ea typeface="Aptos"/>
                <a:cs typeface="Aptos"/>
              </a:rPr>
              <a:t>time</a:t>
            </a: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, </a:t>
            </a:r>
            <a:r>
              <a:rPr lang="ru-RU" sz="1200" b="0" noProof="0" dirty="0" err="1">
                <a:solidFill>
                  <a:srgbClr val="062B35"/>
                </a:solidFill>
                <a:latin typeface="Aptos"/>
                <a:ea typeface="Aptos"/>
                <a:cs typeface="Aptos"/>
              </a:rPr>
              <a:t>cycle</a:t>
            </a: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, </a:t>
            </a:r>
            <a:r>
              <a:rPr lang="ru-RU" sz="1200" b="0" noProof="0" dirty="0" err="1">
                <a:solidFill>
                  <a:srgbClr val="062B35"/>
                </a:solidFill>
                <a:latin typeface="Aptos"/>
                <a:ea typeface="Aptos"/>
                <a:cs typeface="Aptos"/>
              </a:rPr>
              <a:t>phase</a:t>
            </a: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, </a:t>
            </a:r>
            <a:r>
              <a:rPr lang="ru-RU" sz="1200" b="0" noProof="0" dirty="0" err="1">
                <a:solidFill>
                  <a:srgbClr val="062B35"/>
                </a:solidFill>
                <a:latin typeface="Aptos"/>
                <a:ea typeface="Aptos"/>
                <a:cs typeface="Aptos"/>
              </a:rPr>
              <a:t>axis</a:t>
            </a:r>
            <a:endParaRPr lang="ru-RU" sz="1200" b="0" noProof="0" dirty="0">
              <a:solidFill>
                <a:srgbClr val="062B35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q, </a:t>
            </a:r>
            <a:r>
              <a:rPr lang="ru-RU" sz="1200" b="0" noProof="0" dirty="0" err="1">
                <a:solidFill>
                  <a:srgbClr val="062B35"/>
                </a:solidFill>
                <a:latin typeface="Aptos"/>
                <a:ea typeface="Aptos"/>
                <a:cs typeface="Aptos"/>
              </a:rPr>
              <a:t>omega</a:t>
            </a: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, </a:t>
            </a:r>
            <a:r>
              <a:rPr lang="ru-RU" sz="1200" b="0" noProof="0" dirty="0" err="1">
                <a:solidFill>
                  <a:srgbClr val="062B35"/>
                </a:solidFill>
                <a:latin typeface="Aptos"/>
                <a:ea typeface="Aptos"/>
                <a:cs typeface="Aptos"/>
              </a:rPr>
              <a:t>accel</a:t>
            </a: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, </a:t>
            </a:r>
            <a:r>
              <a:rPr lang="ru-RU" sz="1200" b="0" noProof="0" dirty="0" err="1">
                <a:solidFill>
                  <a:srgbClr val="062B35"/>
                </a:solidFill>
                <a:latin typeface="Aptos"/>
                <a:ea typeface="Aptos"/>
                <a:cs typeface="Aptos"/>
              </a:rPr>
              <a:t>torque</a:t>
            </a:r>
            <a:endParaRPr lang="ru-RU" sz="1200" b="0" noProof="0" dirty="0">
              <a:solidFill>
                <a:srgbClr val="062B35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 err="1">
                <a:solidFill>
                  <a:srgbClr val="062B35"/>
                </a:solidFill>
                <a:latin typeface="Aptos"/>
                <a:ea typeface="Aptos"/>
                <a:cs typeface="Aptos"/>
              </a:rPr>
              <a:t>layer</a:t>
            </a: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, </a:t>
            </a:r>
            <a:r>
              <a:rPr lang="ru-RU" sz="1200" b="0" noProof="0" dirty="0" err="1">
                <a:solidFill>
                  <a:srgbClr val="062B35"/>
                </a:solidFill>
                <a:latin typeface="Aptos"/>
                <a:ea typeface="Aptos"/>
                <a:cs typeface="Aptos"/>
              </a:rPr>
              <a:t>item</a:t>
            </a: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, </a:t>
            </a:r>
            <a:r>
              <a:rPr lang="ru-RU" sz="1200" b="0" noProof="0" dirty="0" err="1">
                <a:solidFill>
                  <a:srgbClr val="062B35"/>
                </a:solidFill>
                <a:latin typeface="Aptos"/>
                <a:ea typeface="Aptos"/>
                <a:cs typeface="Aptos"/>
              </a:rPr>
              <a:t>carrying</a:t>
            </a:r>
            <a:endParaRPr lang="ru-RU" sz="1200" b="0" noProof="0" dirty="0">
              <a:solidFill>
                <a:srgbClr val="062B3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7DFCE3B0-6F7F-427E-B54F-AA6399AC471D}"/>
              </a:ext>
            </a:extLst>
          </p:cNvPr>
          <p:cNvSpPr>
            <a:spLocks noGrp="1"/>
          </p:cNvSpPr>
          <p:nvPr/>
        </p:nvSpPr>
        <p:spPr>
          <a:xfrm>
            <a:off x="762000" y="4305300"/>
            <a:ext cx="3162300" cy="1428750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9" name="Прямоугольник 68">
            <a:extLst>
              <a:ext uri="{FF2B5EF4-FFF2-40B4-BE49-F238E27FC236}">
                <a16:creationId xmlns:a16="http://schemas.microsoft.com/office/drawing/2014/main" id="{DC582989-47A7-400E-A08F-A9A053DEBCCB}"/>
              </a:ext>
            </a:extLst>
          </p:cNvPr>
          <p:cNvSpPr>
            <a:spLocks noGrp="1"/>
          </p:cNvSpPr>
          <p:nvPr/>
        </p:nvSpPr>
        <p:spPr>
          <a:xfrm>
            <a:off x="762000" y="4305300"/>
            <a:ext cx="66675" cy="1428750"/>
          </a:xfrm>
          <a:prstGeom prst="rect">
            <a:avLst/>
          </a:prstGeom>
          <a:solidFill>
            <a:srgbClr val="2D9A6A"/>
          </a:solidFill>
          <a:ln w="0">
            <a:solidFill>
              <a:srgbClr val="2D9A6A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8BD733AB-E753-413E-97FF-F76D3DC9F022}"/>
              </a:ext>
            </a:extLst>
          </p:cNvPr>
          <p:cNvSpPr>
            <a:spLocks noGrp="1"/>
          </p:cNvSpPr>
          <p:nvPr/>
        </p:nvSpPr>
        <p:spPr>
          <a:xfrm>
            <a:off x="971550" y="4476750"/>
            <a:ext cx="2743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Признаки</a:t>
            </a:r>
          </a:p>
        </p:txBody>
      </p:sp>
      <p:sp>
        <p:nvSpPr>
          <p:cNvPr id="71" name="Прямоугольник 70">
            <a:extLst>
              <a:ext uri="{FF2B5EF4-FFF2-40B4-BE49-F238E27FC236}">
                <a16:creationId xmlns:a16="http://schemas.microsoft.com/office/drawing/2014/main" id="{8D32B57F-7062-4F9B-8B46-7D30E38AA115}"/>
              </a:ext>
            </a:extLst>
          </p:cNvPr>
          <p:cNvSpPr>
            <a:spLocks noGrp="1"/>
          </p:cNvSpPr>
          <p:nvPr/>
        </p:nvSpPr>
        <p:spPr>
          <a:xfrm>
            <a:off x="971550" y="4857750"/>
            <a:ext cx="276225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 err="1">
                <a:solidFill>
                  <a:srgbClr val="062B35"/>
                </a:solidFill>
                <a:latin typeface="Aptos"/>
                <a:ea typeface="Aptos"/>
                <a:cs typeface="Aptos"/>
              </a:rPr>
              <a:t>mean</a:t>
            </a: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 / </a:t>
            </a:r>
            <a:r>
              <a:rPr lang="ru-RU" sz="1200" b="0" noProof="0" dirty="0" err="1">
                <a:solidFill>
                  <a:srgbClr val="062B35"/>
                </a:solidFill>
                <a:latin typeface="Aptos"/>
                <a:ea typeface="Aptos"/>
                <a:cs typeface="Aptos"/>
              </a:rPr>
              <a:t>max</a:t>
            </a: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 / </a:t>
            </a:r>
            <a:r>
              <a:rPr lang="ru-RU" sz="1200" b="0" noProof="0" dirty="0" err="1">
                <a:solidFill>
                  <a:srgbClr val="062B35"/>
                </a:solidFill>
                <a:latin typeface="Aptos"/>
                <a:ea typeface="Aptos"/>
                <a:cs typeface="Aptos"/>
              </a:rPr>
              <a:t>std</a:t>
            </a: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 / </a:t>
            </a:r>
            <a:r>
              <a:rPr lang="ru-RU" sz="1200" b="0" noProof="0" dirty="0" err="1">
                <a:solidFill>
                  <a:srgbClr val="062B35"/>
                </a:solidFill>
                <a:latin typeface="Aptos"/>
                <a:ea typeface="Aptos"/>
                <a:cs typeface="Aptos"/>
              </a:rPr>
              <a:t>rms</a:t>
            </a:r>
            <a:endParaRPr lang="ru-RU" sz="1200" b="0" noProof="0" dirty="0">
              <a:solidFill>
                <a:srgbClr val="062B35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 err="1">
                <a:solidFill>
                  <a:srgbClr val="062B35"/>
                </a:solidFill>
                <a:latin typeface="Aptos"/>
                <a:ea typeface="Aptos"/>
                <a:cs typeface="Aptos"/>
              </a:rPr>
              <a:t>energy</a:t>
            </a: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 и </a:t>
            </a:r>
            <a:r>
              <a:rPr lang="ru-RU" sz="1200" b="0" noProof="0" dirty="0" err="1">
                <a:solidFill>
                  <a:srgbClr val="062B35"/>
                </a:solidFill>
                <a:latin typeface="Aptos"/>
                <a:ea typeface="Aptos"/>
                <a:cs typeface="Aptos"/>
              </a:rPr>
              <a:t>slope</a:t>
            </a:r>
            <a:endParaRPr lang="ru-RU" sz="1200" b="0" noProof="0" dirty="0">
              <a:solidFill>
                <a:srgbClr val="062B35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длительность фазы</a:t>
            </a:r>
          </a:p>
        </p:txBody>
      </p:sp>
      <p:pic>
        <p:nvPicPr>
          <p:cNvPr id="74" name="Рисунок 7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07214" y="2495550"/>
            <a:ext cx="6463722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7880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16">
            <a:extLst>
              <a:ext uri="{FF2B5EF4-FFF2-40B4-BE49-F238E27FC236}">
                <a16:creationId xmlns:a16="http://schemas.microsoft.com/office/drawing/2014/main" id="{A8384FB5-9ADC-4DDC-881B-597D56F5B1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26" name="Rectangle 18">
            <a:extLst>
              <a:ext uri="{FF2B5EF4-FFF2-40B4-BE49-F238E27FC236}">
                <a16:creationId xmlns:a16="http://schemas.microsoft.com/office/drawing/2014/main" id="{1199E1B1-A8C0-4FE8-A5A8-1CB41D69F857}"/>
              </a:ext>
            </a:extLst>
          </p:cNvPr>
          <p:cNvSpPr>
            <a:spLocks noGrp="1"/>
          </p:cNvSpPr>
          <p:nvPr/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27" name="Rectangle 20">
            <a:extLst>
              <a:ext uri="{FF2B5EF4-FFF2-40B4-BE49-F238E27FC236}">
                <a16:creationId xmlns:a16="http://schemas.microsoft.com/office/drawing/2014/main" id="{84A8DE83-DE75-4B41-9DB4-A7EC0B0DEC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28" name="Rectangle 22">
            <a:extLst>
              <a:ext uri="{FF2B5EF4-FFF2-40B4-BE49-F238E27FC236}">
                <a16:creationId xmlns:a16="http://schemas.microsoft.com/office/drawing/2014/main" id="{A7009A0A-BEF5-4EAC-AF15-E4F9F002E239}"/>
              </a:ext>
            </a:extLst>
          </p:cNvPr>
          <p:cNvSpPr>
            <a:spLocks noGrp="1"/>
          </p:cNvSpPr>
          <p:nvPr/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627A7-D7EB-A17A-D4E7-2BEC2774C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0" tIns="0" rIns="0" bIns="0" anchor="ctr">
            <a:normAutofit/>
          </a:bodyPr>
          <a:lstStyle/>
          <a:p>
            <a:r>
              <a:rPr lang="ru-RU" sz="3150" b="0" noProof="0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Архитектура разработанного ПАК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E6FFA12-CA69-6B91-54E6-C516FF0FB81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r>
              <a:rPr lang="ru-RU" dirty="0"/>
              <a:t>10</a:t>
            </a:r>
            <a:endParaRPr lang="ru-RU" noProof="0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F74BA220-D11D-4CE4-B2A8-3FEC44E47211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2286000" cy="1619250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45DA421E-73A4-4AF9-9EDA-3EB08C65A250}"/>
              </a:ext>
            </a:extLst>
          </p:cNvPr>
          <p:cNvSpPr>
            <a:spLocks noGrp="1"/>
          </p:cNvSpPr>
          <p:nvPr/>
        </p:nvSpPr>
        <p:spPr>
          <a:xfrm>
            <a:off x="685800" y="2724150"/>
            <a:ext cx="66675" cy="1619250"/>
          </a:xfrm>
          <a:prstGeom prst="rect">
            <a:avLst/>
          </a:prstGeom>
          <a:solidFill>
            <a:srgbClr val="3369C7"/>
          </a:solidFill>
          <a:ln w="0">
            <a:solidFill>
              <a:srgbClr val="3369C7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A64BD8C5-D0C4-48BB-97A3-1360FD51F6AF}"/>
              </a:ext>
            </a:extLst>
          </p:cNvPr>
          <p:cNvSpPr>
            <a:spLocks noGrp="1"/>
          </p:cNvSpPr>
          <p:nvPr/>
        </p:nvSpPr>
        <p:spPr>
          <a:xfrm>
            <a:off x="895350" y="2895600"/>
            <a:ext cx="1866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Цифровая модель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41CC390B-FE2B-4C39-82B7-E044345C4B9D}"/>
              </a:ext>
            </a:extLst>
          </p:cNvPr>
          <p:cNvSpPr>
            <a:spLocks noGrp="1"/>
          </p:cNvSpPr>
          <p:nvPr/>
        </p:nvSpPr>
        <p:spPr>
          <a:xfrm>
            <a:off x="895350" y="3276600"/>
            <a:ext cx="18859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CoppeliaSim</a:t>
            </a:r>
          </a:p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motor1...motor4</a:t>
            </a:r>
          </a:p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фазы цикла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56840218-C5E2-440C-9D01-2446E9FFAF6D}"/>
              </a:ext>
            </a:extLst>
          </p:cNvPr>
          <p:cNvSpPr>
            <a:spLocks noGrp="1"/>
          </p:cNvSpPr>
          <p:nvPr/>
        </p:nvSpPr>
        <p:spPr>
          <a:xfrm>
            <a:off x="3048000" y="3467100"/>
            <a:ext cx="171450" cy="38100"/>
          </a:xfrm>
          <a:prstGeom prst="rect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4" name="Равнобедренный треугольник 33">
            <a:extLst>
              <a:ext uri="{FF2B5EF4-FFF2-40B4-BE49-F238E27FC236}">
                <a16:creationId xmlns:a16="http://schemas.microsoft.com/office/drawing/2014/main" id="{92408371-C724-4ABA-A71D-F9A6B7507159}"/>
              </a:ext>
            </a:extLst>
          </p:cNvPr>
          <p:cNvSpPr>
            <a:spLocks noGrp="1"/>
          </p:cNvSpPr>
          <p:nvPr/>
        </p:nvSpPr>
        <p:spPr>
          <a:xfrm>
            <a:off x="3143250" y="3390900"/>
            <a:ext cx="171450" cy="190500"/>
          </a:xfrm>
          <a:prstGeom prst="triangle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8A282C40-07E7-4D77-BDB0-C60EB374E3B4}"/>
              </a:ext>
            </a:extLst>
          </p:cNvPr>
          <p:cNvSpPr>
            <a:spLocks noGrp="1"/>
          </p:cNvSpPr>
          <p:nvPr/>
        </p:nvSpPr>
        <p:spPr>
          <a:xfrm>
            <a:off x="3295650" y="2724150"/>
            <a:ext cx="2286000" cy="1619250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F63EDB32-F08D-4328-AE6F-F532EC4018D1}"/>
              </a:ext>
            </a:extLst>
          </p:cNvPr>
          <p:cNvSpPr>
            <a:spLocks noGrp="1"/>
          </p:cNvSpPr>
          <p:nvPr/>
        </p:nvSpPr>
        <p:spPr>
          <a:xfrm>
            <a:off x="3295650" y="2724150"/>
            <a:ext cx="66675" cy="1619250"/>
          </a:xfrm>
          <a:prstGeom prst="rect">
            <a:avLst/>
          </a:prstGeom>
          <a:solidFill>
            <a:srgbClr val="2D9A6A"/>
          </a:solidFill>
          <a:ln w="0">
            <a:solidFill>
              <a:srgbClr val="2D9A6A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CDC369A2-13D0-4B29-B29E-507FDCF7CADB}"/>
              </a:ext>
            </a:extLst>
          </p:cNvPr>
          <p:cNvSpPr>
            <a:spLocks noGrp="1"/>
          </p:cNvSpPr>
          <p:nvPr/>
        </p:nvSpPr>
        <p:spPr>
          <a:xfrm>
            <a:off x="3505200" y="2895600"/>
            <a:ext cx="1866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Сбор данных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940FD92B-F53F-45CD-BB8A-B5F485DD7427}"/>
              </a:ext>
            </a:extLst>
          </p:cNvPr>
          <p:cNvSpPr>
            <a:spLocks noGrp="1"/>
          </p:cNvSpPr>
          <p:nvPr/>
        </p:nvSpPr>
        <p:spPr>
          <a:xfrm>
            <a:off x="3505200" y="3276600"/>
            <a:ext cx="18859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Python</a:t>
            </a:r>
          </a:p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Remote API</a:t>
            </a:r>
          </a:p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JSONL/CSV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3FDF044C-F678-4B1C-8070-40541F1611ED}"/>
              </a:ext>
            </a:extLst>
          </p:cNvPr>
          <p:cNvSpPr>
            <a:spLocks noGrp="1"/>
          </p:cNvSpPr>
          <p:nvPr/>
        </p:nvSpPr>
        <p:spPr>
          <a:xfrm>
            <a:off x="5657850" y="3467100"/>
            <a:ext cx="171450" cy="38100"/>
          </a:xfrm>
          <a:prstGeom prst="rect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40" name="Равнобедренный треугольник 39">
            <a:extLst>
              <a:ext uri="{FF2B5EF4-FFF2-40B4-BE49-F238E27FC236}">
                <a16:creationId xmlns:a16="http://schemas.microsoft.com/office/drawing/2014/main" id="{B322AFD4-FA7D-46BB-BBF2-5C5ABFB8B964}"/>
              </a:ext>
            </a:extLst>
          </p:cNvPr>
          <p:cNvSpPr>
            <a:spLocks noGrp="1"/>
          </p:cNvSpPr>
          <p:nvPr/>
        </p:nvSpPr>
        <p:spPr>
          <a:xfrm>
            <a:off x="5753100" y="3390900"/>
            <a:ext cx="171450" cy="190500"/>
          </a:xfrm>
          <a:prstGeom prst="triangle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5722A362-9CE7-44A4-8893-E48AE669D22E}"/>
              </a:ext>
            </a:extLst>
          </p:cNvPr>
          <p:cNvSpPr>
            <a:spLocks noGrp="1"/>
          </p:cNvSpPr>
          <p:nvPr/>
        </p:nvSpPr>
        <p:spPr>
          <a:xfrm>
            <a:off x="5905500" y="2724150"/>
            <a:ext cx="2286000" cy="1619250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450ED23A-B6D0-4C30-9622-5096C513E1CE}"/>
              </a:ext>
            </a:extLst>
          </p:cNvPr>
          <p:cNvSpPr>
            <a:spLocks noGrp="1"/>
          </p:cNvSpPr>
          <p:nvPr/>
        </p:nvSpPr>
        <p:spPr>
          <a:xfrm>
            <a:off x="5905500" y="2724150"/>
            <a:ext cx="66675" cy="1619250"/>
          </a:xfrm>
          <a:prstGeom prst="rect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AF013A8E-D331-4656-A694-F300BE526BF7}"/>
              </a:ext>
            </a:extLst>
          </p:cNvPr>
          <p:cNvSpPr>
            <a:spLocks noGrp="1"/>
          </p:cNvSpPr>
          <p:nvPr/>
        </p:nvSpPr>
        <p:spPr>
          <a:xfrm>
            <a:off x="6115050" y="2895600"/>
            <a:ext cx="1866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Признаки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3D7C1751-3D2A-40DB-9865-E11B4A3CEABE}"/>
              </a:ext>
            </a:extLst>
          </p:cNvPr>
          <p:cNvSpPr>
            <a:spLocks noGrp="1"/>
          </p:cNvSpPr>
          <p:nvPr/>
        </p:nvSpPr>
        <p:spPr>
          <a:xfrm>
            <a:off x="6115050" y="3276600"/>
            <a:ext cx="18859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валидация</a:t>
            </a:r>
          </a:p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RMS / </a:t>
            </a:r>
            <a:r>
              <a:rPr lang="ru-RU" sz="1125" b="0" noProof="0" dirty="0" err="1">
                <a:solidFill>
                  <a:srgbClr val="062B35"/>
                </a:solidFill>
                <a:latin typeface="Aptos"/>
                <a:ea typeface="Aptos"/>
                <a:cs typeface="Aptos"/>
              </a:rPr>
              <a:t>energy</a:t>
            </a:r>
            <a:endParaRPr lang="ru-RU" sz="1125" b="0" noProof="0" dirty="0">
              <a:solidFill>
                <a:srgbClr val="062B35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длительность фаз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86405617-DFB1-4406-8D10-BB72AF2DE8C4}"/>
              </a:ext>
            </a:extLst>
          </p:cNvPr>
          <p:cNvSpPr>
            <a:spLocks noGrp="1"/>
          </p:cNvSpPr>
          <p:nvPr/>
        </p:nvSpPr>
        <p:spPr>
          <a:xfrm>
            <a:off x="8267700" y="3467100"/>
            <a:ext cx="171450" cy="38100"/>
          </a:xfrm>
          <a:prstGeom prst="rect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46" name="Равнобедренный треугольник 45">
            <a:extLst>
              <a:ext uri="{FF2B5EF4-FFF2-40B4-BE49-F238E27FC236}">
                <a16:creationId xmlns:a16="http://schemas.microsoft.com/office/drawing/2014/main" id="{3737DD49-82C1-4C30-A28F-CE96CF41231C}"/>
              </a:ext>
            </a:extLst>
          </p:cNvPr>
          <p:cNvSpPr>
            <a:spLocks noGrp="1"/>
          </p:cNvSpPr>
          <p:nvPr/>
        </p:nvSpPr>
        <p:spPr>
          <a:xfrm>
            <a:off x="8362950" y="3390900"/>
            <a:ext cx="171450" cy="190500"/>
          </a:xfrm>
          <a:prstGeom prst="triangle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97269CFE-025C-4A44-8407-76AE94FEB764}"/>
              </a:ext>
            </a:extLst>
          </p:cNvPr>
          <p:cNvSpPr>
            <a:spLocks noGrp="1"/>
          </p:cNvSpPr>
          <p:nvPr/>
        </p:nvSpPr>
        <p:spPr>
          <a:xfrm>
            <a:off x="8515350" y="2724150"/>
            <a:ext cx="2286000" cy="1619250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43E66438-D288-486C-AB92-92E312CA7C9E}"/>
              </a:ext>
            </a:extLst>
          </p:cNvPr>
          <p:cNvSpPr>
            <a:spLocks noGrp="1"/>
          </p:cNvSpPr>
          <p:nvPr/>
        </p:nvSpPr>
        <p:spPr>
          <a:xfrm>
            <a:off x="8515350" y="2724150"/>
            <a:ext cx="66675" cy="1619250"/>
          </a:xfrm>
          <a:prstGeom prst="rect">
            <a:avLst/>
          </a:prstGeom>
          <a:solidFill>
            <a:srgbClr val="3369C7"/>
          </a:solidFill>
          <a:ln w="0">
            <a:solidFill>
              <a:srgbClr val="3369C7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C0FC289D-F20A-4B3A-983D-ECC873056774}"/>
              </a:ext>
            </a:extLst>
          </p:cNvPr>
          <p:cNvSpPr>
            <a:spLocks noGrp="1"/>
          </p:cNvSpPr>
          <p:nvPr/>
        </p:nvSpPr>
        <p:spPr>
          <a:xfrm>
            <a:off x="8724900" y="2895600"/>
            <a:ext cx="1866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Аналитика</a:t>
            </a: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3C46D45A-383E-4016-9293-14040551C80A}"/>
              </a:ext>
            </a:extLst>
          </p:cNvPr>
          <p:cNvSpPr>
            <a:spLocks noGrp="1"/>
          </p:cNvSpPr>
          <p:nvPr/>
        </p:nvSpPr>
        <p:spPr>
          <a:xfrm>
            <a:off x="8724900" y="3276600"/>
            <a:ext cx="188595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HI(motor1...motor4)</a:t>
            </a:r>
          </a:p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RUL(motor1...motor4)</a:t>
            </a:r>
          </a:p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MLPRegressor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A81AE118-76F0-4F09-89EF-C7595C679FC6}"/>
              </a:ext>
            </a:extLst>
          </p:cNvPr>
          <p:cNvSpPr>
            <a:spLocks noGrp="1"/>
          </p:cNvSpPr>
          <p:nvPr/>
        </p:nvSpPr>
        <p:spPr>
          <a:xfrm>
            <a:off x="2286000" y="4857750"/>
            <a:ext cx="2857500" cy="1200150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C4717933-FDD6-40F9-B52C-E5276E50F15E}"/>
              </a:ext>
            </a:extLst>
          </p:cNvPr>
          <p:cNvSpPr>
            <a:spLocks noGrp="1"/>
          </p:cNvSpPr>
          <p:nvPr/>
        </p:nvSpPr>
        <p:spPr>
          <a:xfrm>
            <a:off x="2286000" y="4857750"/>
            <a:ext cx="66675" cy="1200150"/>
          </a:xfrm>
          <a:prstGeom prst="rect">
            <a:avLst/>
          </a:prstGeom>
          <a:solidFill>
            <a:srgbClr val="2D9A6A"/>
          </a:solidFill>
          <a:ln w="0">
            <a:solidFill>
              <a:srgbClr val="2D9A6A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6AAED7E9-9A17-4C92-90B4-1B2311583C63}"/>
              </a:ext>
            </a:extLst>
          </p:cNvPr>
          <p:cNvSpPr>
            <a:spLocks noGrp="1"/>
          </p:cNvSpPr>
          <p:nvPr/>
        </p:nvSpPr>
        <p:spPr>
          <a:xfrm>
            <a:off x="2495550" y="5029200"/>
            <a:ext cx="2438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Хранилище</a:t>
            </a:r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3B0945F5-2104-4E59-83EE-E6552E7CF3A0}"/>
              </a:ext>
            </a:extLst>
          </p:cNvPr>
          <p:cNvSpPr>
            <a:spLocks noGrp="1"/>
          </p:cNvSpPr>
          <p:nvPr/>
        </p:nvSpPr>
        <p:spPr>
          <a:xfrm>
            <a:off x="2495550" y="5410200"/>
            <a:ext cx="24574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InfluxDB</a:t>
            </a:r>
          </a:p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события цикла</a:t>
            </a:r>
          </a:p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прогнозы и метрики</a:t>
            </a:r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E01BE963-EBF2-46B4-A19D-41B67D939D53}"/>
              </a:ext>
            </a:extLst>
          </p:cNvPr>
          <p:cNvSpPr>
            <a:spLocks noGrp="1"/>
          </p:cNvSpPr>
          <p:nvPr/>
        </p:nvSpPr>
        <p:spPr>
          <a:xfrm>
            <a:off x="7048500" y="4857750"/>
            <a:ext cx="2857500" cy="1200150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9727C2DC-5EC5-44AB-B216-A5231324E5D8}"/>
              </a:ext>
            </a:extLst>
          </p:cNvPr>
          <p:cNvSpPr>
            <a:spLocks noGrp="1"/>
          </p:cNvSpPr>
          <p:nvPr/>
        </p:nvSpPr>
        <p:spPr>
          <a:xfrm>
            <a:off x="7048500" y="4857750"/>
            <a:ext cx="66675" cy="1200150"/>
          </a:xfrm>
          <a:prstGeom prst="rect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6FF12DCF-5FE9-4268-B5AD-B15BA89092AA}"/>
              </a:ext>
            </a:extLst>
          </p:cNvPr>
          <p:cNvSpPr>
            <a:spLocks noGrp="1"/>
          </p:cNvSpPr>
          <p:nvPr/>
        </p:nvSpPr>
        <p:spPr>
          <a:xfrm>
            <a:off x="7258050" y="5029200"/>
            <a:ext cx="2438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Интерфейс</a:t>
            </a:r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60EE8677-CC9B-4CAA-9812-2EFE2F5B8DF1}"/>
              </a:ext>
            </a:extLst>
          </p:cNvPr>
          <p:cNvSpPr>
            <a:spLocks noGrp="1"/>
          </p:cNvSpPr>
          <p:nvPr/>
        </p:nvSpPr>
        <p:spPr>
          <a:xfrm>
            <a:off x="7258050" y="5410200"/>
            <a:ext cx="24574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Grafana</a:t>
            </a:r>
          </a:p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панели HI/RUL</a:t>
            </a:r>
          </a:p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предупреждения по ТО</a:t>
            </a: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B0CA25ED-25AF-4C95-889A-48FF7B8F8A8E}"/>
              </a:ext>
            </a:extLst>
          </p:cNvPr>
          <p:cNvSpPr>
            <a:spLocks noGrp="1"/>
          </p:cNvSpPr>
          <p:nvPr/>
        </p:nvSpPr>
        <p:spPr>
          <a:xfrm>
            <a:off x="5162550" y="5429250"/>
            <a:ext cx="1809750" cy="38100"/>
          </a:xfrm>
          <a:prstGeom prst="rect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0" name="Равнобедренный треугольник 59">
            <a:extLst>
              <a:ext uri="{FF2B5EF4-FFF2-40B4-BE49-F238E27FC236}">
                <a16:creationId xmlns:a16="http://schemas.microsoft.com/office/drawing/2014/main" id="{277D520D-7E75-49B9-8C23-5919949A26C5}"/>
              </a:ext>
            </a:extLst>
          </p:cNvPr>
          <p:cNvSpPr>
            <a:spLocks noGrp="1"/>
          </p:cNvSpPr>
          <p:nvPr/>
        </p:nvSpPr>
        <p:spPr>
          <a:xfrm>
            <a:off x="6838950" y="5353050"/>
            <a:ext cx="171450" cy="190500"/>
          </a:xfrm>
          <a:prstGeom prst="triangle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708547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A8384FB5-9ADC-4DDC-881B-597D56F5B15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1E5A9A7-95C6-4F4F-B00E-C82E07FE62EF}"/>
              </a:ext>
            </a:extLst>
          </p:cNvPr>
          <p:cNvSpPr>
            <a:spLocks noGrp="1"/>
          </p:cNvSpPr>
          <p:nvPr/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07DD2DE-F619-49DD-B5E7-03A290FF4ED1}"/>
              </a:ext>
            </a:extLst>
          </p:cNvPr>
          <p:cNvSpPr>
            <a:spLocks noGrp="1"/>
          </p:cNvSpPr>
          <p:nvPr/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5149191-5F60-4A28-AAFF-039F96B0F3EC}"/>
              </a:ext>
            </a:extLst>
          </p:cNvPr>
          <p:cNvSpPr>
            <a:spLocks noGrp="1"/>
          </p:cNvSpPr>
          <p:nvPr/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F8260ED5-17F7-4158-B241-D51DD4CF1B7E}"/>
              </a:ext>
            </a:extLst>
          </p:cNvPr>
          <p:cNvSpPr>
            <a:spLocks noGrp="1"/>
          </p:cNvSpPr>
          <p:nvPr/>
        </p:nvSpPr>
        <p:spPr>
          <a:xfrm rot="6097846">
            <a:off x="-747355" y="1201312"/>
            <a:ext cx="4808302" cy="4088666"/>
          </a:xfrm>
          <a:custGeom>
            <a:avLst/>
            <a:gdLst/>
            <a:ahLst/>
            <a:cxnLst/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BE54A7F-80B5-3F9B-ACEA-59E95D312C0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743945" y="6492447"/>
            <a:ext cx="448056" cy="365125"/>
          </a:xfrm>
        </p:spPr>
        <p:txBody>
          <a:bodyPr vert="horz" lIns="91440" tIns="45720" rIns="91440" bIns="45720" anchor="ctr"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ru-RU" noProof="0" dirty="0"/>
              <a:t>11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246DB49E-9A5B-4A27-830F-DD35AD2B76B7}"/>
              </a:ext>
            </a:extLst>
          </p:cNvPr>
          <p:cNvSpPr>
            <a:spLocks noGrp="1"/>
          </p:cNvSpPr>
          <p:nvPr/>
        </p:nvSpPr>
        <p:spPr>
          <a:xfrm>
            <a:off x="800100" y="609600"/>
            <a:ext cx="9715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3150" b="0" noProof="0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Алгоритм оценки RUL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F2572BE9-AD72-46C1-9DE1-1A95AF7683D5}"/>
              </a:ext>
            </a:extLst>
          </p:cNvPr>
          <p:cNvSpPr>
            <a:spLocks noGrp="1"/>
          </p:cNvSpPr>
          <p:nvPr/>
        </p:nvSpPr>
        <p:spPr>
          <a:xfrm>
            <a:off x="933450" y="2857500"/>
            <a:ext cx="1809750" cy="1257300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61BF85AD-F193-4F6C-9268-FD92B51AA925}"/>
              </a:ext>
            </a:extLst>
          </p:cNvPr>
          <p:cNvSpPr>
            <a:spLocks noGrp="1"/>
          </p:cNvSpPr>
          <p:nvPr/>
        </p:nvSpPr>
        <p:spPr>
          <a:xfrm>
            <a:off x="933450" y="2857500"/>
            <a:ext cx="66675" cy="1257300"/>
          </a:xfrm>
          <a:prstGeom prst="rect">
            <a:avLst/>
          </a:prstGeom>
          <a:solidFill>
            <a:srgbClr val="3369C7"/>
          </a:solidFill>
          <a:ln w="0">
            <a:solidFill>
              <a:srgbClr val="3369C7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65531995-CF02-4C28-8F8A-250B1A6CE303}"/>
              </a:ext>
            </a:extLst>
          </p:cNvPr>
          <p:cNvSpPr>
            <a:spLocks noGrp="1"/>
          </p:cNvSpPr>
          <p:nvPr/>
        </p:nvSpPr>
        <p:spPr>
          <a:xfrm>
            <a:off x="1143000" y="3028950"/>
            <a:ext cx="1390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1. Сбор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691478C0-F67F-4C31-8895-A15EF5833C55}"/>
              </a:ext>
            </a:extLst>
          </p:cNvPr>
          <p:cNvSpPr>
            <a:spLocks noGrp="1"/>
          </p:cNvSpPr>
          <p:nvPr/>
        </p:nvSpPr>
        <p:spPr>
          <a:xfrm>
            <a:off x="1143000" y="3409950"/>
            <a:ext cx="14097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05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момент</a:t>
            </a:r>
          </a:p>
          <a:p>
            <a:pPr algn="l">
              <a:defRPr sz="105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05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скорость</a:t>
            </a:r>
          </a:p>
          <a:p>
            <a:pPr algn="l">
              <a:defRPr sz="105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05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фаза цикла</a:t>
            </a:r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47885BD8-060C-4C3B-AAC9-B5188082C62A}"/>
              </a:ext>
            </a:extLst>
          </p:cNvPr>
          <p:cNvSpPr>
            <a:spLocks noGrp="1"/>
          </p:cNvSpPr>
          <p:nvPr/>
        </p:nvSpPr>
        <p:spPr>
          <a:xfrm>
            <a:off x="2819400" y="3448050"/>
            <a:ext cx="171450" cy="38100"/>
          </a:xfrm>
          <a:prstGeom prst="rect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45" name="Равнобедренный треугольник 44">
            <a:extLst>
              <a:ext uri="{FF2B5EF4-FFF2-40B4-BE49-F238E27FC236}">
                <a16:creationId xmlns:a16="http://schemas.microsoft.com/office/drawing/2014/main" id="{B2524CEA-9A71-433E-AB08-0CBE99153471}"/>
              </a:ext>
            </a:extLst>
          </p:cNvPr>
          <p:cNvSpPr>
            <a:spLocks noGrp="1"/>
          </p:cNvSpPr>
          <p:nvPr/>
        </p:nvSpPr>
        <p:spPr>
          <a:xfrm>
            <a:off x="2914650" y="3371850"/>
            <a:ext cx="152400" cy="190500"/>
          </a:xfrm>
          <a:prstGeom prst="triangle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D5C6FD44-0F21-4BEB-BAAA-709BB35EA71C}"/>
              </a:ext>
            </a:extLst>
          </p:cNvPr>
          <p:cNvSpPr>
            <a:spLocks noGrp="1"/>
          </p:cNvSpPr>
          <p:nvPr/>
        </p:nvSpPr>
        <p:spPr>
          <a:xfrm>
            <a:off x="3048000" y="2857500"/>
            <a:ext cx="1809750" cy="1257300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752D31EA-6447-4924-99E2-AE4AA4AA992E}"/>
              </a:ext>
            </a:extLst>
          </p:cNvPr>
          <p:cNvSpPr>
            <a:spLocks noGrp="1"/>
          </p:cNvSpPr>
          <p:nvPr/>
        </p:nvSpPr>
        <p:spPr>
          <a:xfrm>
            <a:off x="3048000" y="2857500"/>
            <a:ext cx="66675" cy="1257300"/>
          </a:xfrm>
          <a:prstGeom prst="rect">
            <a:avLst/>
          </a:prstGeom>
          <a:solidFill>
            <a:srgbClr val="2D9A6A"/>
          </a:solidFill>
          <a:ln w="0">
            <a:solidFill>
              <a:srgbClr val="2D9A6A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693028E9-6BB0-4194-8FAA-5330D9F885A1}"/>
              </a:ext>
            </a:extLst>
          </p:cNvPr>
          <p:cNvSpPr>
            <a:spLocks noGrp="1"/>
          </p:cNvSpPr>
          <p:nvPr/>
        </p:nvSpPr>
        <p:spPr>
          <a:xfrm>
            <a:off x="3257550" y="3028950"/>
            <a:ext cx="1390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2. Валидация</a:t>
            </a: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44608CA7-ECEE-4B95-9DEC-9D0D79AD060F}"/>
              </a:ext>
            </a:extLst>
          </p:cNvPr>
          <p:cNvSpPr>
            <a:spLocks noGrp="1"/>
          </p:cNvSpPr>
          <p:nvPr/>
        </p:nvSpPr>
        <p:spPr>
          <a:xfrm>
            <a:off x="3257550" y="3409950"/>
            <a:ext cx="14097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05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фильтрация</a:t>
            </a:r>
          </a:p>
          <a:p>
            <a:pPr algn="l">
              <a:defRPr sz="105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05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проверка полноты</a:t>
            </a:r>
          </a:p>
          <a:p>
            <a:pPr algn="l">
              <a:defRPr sz="105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05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сегментация</a:t>
            </a:r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1F5CE5E7-AD66-4680-B6DC-467243350566}"/>
              </a:ext>
            </a:extLst>
          </p:cNvPr>
          <p:cNvSpPr>
            <a:spLocks noGrp="1"/>
          </p:cNvSpPr>
          <p:nvPr/>
        </p:nvSpPr>
        <p:spPr>
          <a:xfrm>
            <a:off x="4933950" y="3448050"/>
            <a:ext cx="171450" cy="38100"/>
          </a:xfrm>
          <a:prstGeom prst="rect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51" name="Равнобедренный треугольник 50">
            <a:extLst>
              <a:ext uri="{FF2B5EF4-FFF2-40B4-BE49-F238E27FC236}">
                <a16:creationId xmlns:a16="http://schemas.microsoft.com/office/drawing/2014/main" id="{C6AF13C4-D0EE-4CCA-B4FB-8C0C1D266D9E}"/>
              </a:ext>
            </a:extLst>
          </p:cNvPr>
          <p:cNvSpPr>
            <a:spLocks noGrp="1"/>
          </p:cNvSpPr>
          <p:nvPr/>
        </p:nvSpPr>
        <p:spPr>
          <a:xfrm>
            <a:off x="5029200" y="3371850"/>
            <a:ext cx="152400" cy="190500"/>
          </a:xfrm>
          <a:prstGeom prst="triangle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6A79B9B3-7422-4D16-AE66-71CE24FCF7CD}"/>
              </a:ext>
            </a:extLst>
          </p:cNvPr>
          <p:cNvSpPr>
            <a:spLocks noGrp="1"/>
          </p:cNvSpPr>
          <p:nvPr/>
        </p:nvSpPr>
        <p:spPr>
          <a:xfrm>
            <a:off x="5162550" y="2857500"/>
            <a:ext cx="1809750" cy="1257300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D98C7E70-4D67-42EA-B2A2-DA78A7F17543}"/>
              </a:ext>
            </a:extLst>
          </p:cNvPr>
          <p:cNvSpPr>
            <a:spLocks noGrp="1"/>
          </p:cNvSpPr>
          <p:nvPr/>
        </p:nvSpPr>
        <p:spPr>
          <a:xfrm>
            <a:off x="5162550" y="2857500"/>
            <a:ext cx="66675" cy="1257300"/>
          </a:xfrm>
          <a:prstGeom prst="rect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D53F00FF-D9C2-474C-AEC3-DB5E2699EF49}"/>
              </a:ext>
            </a:extLst>
          </p:cNvPr>
          <p:cNvSpPr>
            <a:spLocks noGrp="1"/>
          </p:cNvSpPr>
          <p:nvPr/>
        </p:nvSpPr>
        <p:spPr>
          <a:xfrm>
            <a:off x="5372100" y="3028950"/>
            <a:ext cx="1390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3. Признаки</a:t>
            </a:r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495E34F1-B73C-4960-BD8B-D9BE599A7CEA}"/>
              </a:ext>
            </a:extLst>
          </p:cNvPr>
          <p:cNvSpPr>
            <a:spLocks noGrp="1"/>
          </p:cNvSpPr>
          <p:nvPr/>
        </p:nvSpPr>
        <p:spPr>
          <a:xfrm>
            <a:off x="5372100" y="3409950"/>
            <a:ext cx="14097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05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RMS</a:t>
            </a:r>
          </a:p>
          <a:p>
            <a:pPr algn="l">
              <a:defRPr sz="105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050" b="0" noProof="0" dirty="0" err="1">
                <a:solidFill>
                  <a:srgbClr val="062B35"/>
                </a:solidFill>
                <a:latin typeface="Aptos"/>
                <a:ea typeface="Aptos"/>
                <a:cs typeface="Aptos"/>
              </a:rPr>
              <a:t>energy</a:t>
            </a:r>
            <a:endParaRPr lang="ru-RU" sz="1050" b="0" noProof="0" dirty="0">
              <a:solidFill>
                <a:srgbClr val="062B35"/>
              </a:solidFill>
              <a:latin typeface="Aptos"/>
              <a:ea typeface="Aptos"/>
              <a:cs typeface="Aptos"/>
            </a:endParaRPr>
          </a:p>
          <a:p>
            <a:pPr algn="l">
              <a:defRPr sz="105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050" b="0" noProof="0" dirty="0" err="1">
                <a:solidFill>
                  <a:srgbClr val="062B35"/>
                </a:solidFill>
                <a:latin typeface="Aptos"/>
                <a:ea typeface="Aptos"/>
                <a:cs typeface="Aptos"/>
              </a:rPr>
              <a:t>duration</a:t>
            </a:r>
            <a:endParaRPr lang="ru-RU" sz="1050" b="0" noProof="0" dirty="0">
              <a:solidFill>
                <a:srgbClr val="062B3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C97E37D0-F491-4C20-BF48-F42BF3B47EDA}"/>
              </a:ext>
            </a:extLst>
          </p:cNvPr>
          <p:cNvSpPr>
            <a:spLocks noGrp="1"/>
          </p:cNvSpPr>
          <p:nvPr/>
        </p:nvSpPr>
        <p:spPr>
          <a:xfrm>
            <a:off x="7048500" y="3448050"/>
            <a:ext cx="171450" cy="38100"/>
          </a:xfrm>
          <a:prstGeom prst="rect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57" name="Равнобедренный треугольник 56">
            <a:extLst>
              <a:ext uri="{FF2B5EF4-FFF2-40B4-BE49-F238E27FC236}">
                <a16:creationId xmlns:a16="http://schemas.microsoft.com/office/drawing/2014/main" id="{D6B2989B-4EB2-419C-A08E-CED7D7DF42A0}"/>
              </a:ext>
            </a:extLst>
          </p:cNvPr>
          <p:cNvSpPr>
            <a:spLocks noGrp="1"/>
          </p:cNvSpPr>
          <p:nvPr/>
        </p:nvSpPr>
        <p:spPr>
          <a:xfrm>
            <a:off x="7143750" y="3371850"/>
            <a:ext cx="152400" cy="190500"/>
          </a:xfrm>
          <a:prstGeom prst="triangle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58" name="Прямоугольник 57">
            <a:extLst>
              <a:ext uri="{FF2B5EF4-FFF2-40B4-BE49-F238E27FC236}">
                <a16:creationId xmlns:a16="http://schemas.microsoft.com/office/drawing/2014/main" id="{2E1D5082-DEBD-40E4-AEE4-5D4898F34EF3}"/>
              </a:ext>
            </a:extLst>
          </p:cNvPr>
          <p:cNvSpPr>
            <a:spLocks noGrp="1"/>
          </p:cNvSpPr>
          <p:nvPr/>
        </p:nvSpPr>
        <p:spPr>
          <a:xfrm>
            <a:off x="7277100" y="2857500"/>
            <a:ext cx="1809750" cy="1257300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EE846509-3C91-405B-854B-F851A69371A0}"/>
              </a:ext>
            </a:extLst>
          </p:cNvPr>
          <p:cNvSpPr>
            <a:spLocks noGrp="1"/>
          </p:cNvSpPr>
          <p:nvPr/>
        </p:nvSpPr>
        <p:spPr>
          <a:xfrm>
            <a:off x="7277100" y="2857500"/>
            <a:ext cx="66675" cy="1257300"/>
          </a:xfrm>
          <a:prstGeom prst="rect">
            <a:avLst/>
          </a:prstGeom>
          <a:solidFill>
            <a:srgbClr val="3369C7"/>
          </a:solidFill>
          <a:ln w="0">
            <a:solidFill>
              <a:srgbClr val="3369C7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0" name="Прямоугольник 59">
            <a:extLst>
              <a:ext uri="{FF2B5EF4-FFF2-40B4-BE49-F238E27FC236}">
                <a16:creationId xmlns:a16="http://schemas.microsoft.com/office/drawing/2014/main" id="{7A06BAF4-44B7-4988-BB2A-1757D0C4B993}"/>
              </a:ext>
            </a:extLst>
          </p:cNvPr>
          <p:cNvSpPr>
            <a:spLocks noGrp="1"/>
          </p:cNvSpPr>
          <p:nvPr/>
        </p:nvSpPr>
        <p:spPr>
          <a:xfrm>
            <a:off x="7486650" y="3028950"/>
            <a:ext cx="1390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4. HI / RUL</a:t>
            </a:r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DA751D5C-8A62-4F92-AF14-27D0F53710A4}"/>
              </a:ext>
            </a:extLst>
          </p:cNvPr>
          <p:cNvSpPr>
            <a:spLocks noGrp="1"/>
          </p:cNvSpPr>
          <p:nvPr/>
        </p:nvSpPr>
        <p:spPr>
          <a:xfrm>
            <a:off x="7486650" y="3409950"/>
            <a:ext cx="14097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05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контролируемые</a:t>
            </a:r>
          </a:p>
          <a:p>
            <a:pPr algn="l">
              <a:defRPr sz="105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05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приводы</a:t>
            </a:r>
          </a:p>
          <a:p>
            <a:pPr algn="l">
              <a:defRPr sz="105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05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motor1...motor4</a:t>
            </a:r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6F120F2F-453C-4167-9706-A6D5EFD2FAA9}"/>
              </a:ext>
            </a:extLst>
          </p:cNvPr>
          <p:cNvSpPr>
            <a:spLocks noGrp="1"/>
          </p:cNvSpPr>
          <p:nvPr/>
        </p:nvSpPr>
        <p:spPr>
          <a:xfrm>
            <a:off x="9163050" y="3448050"/>
            <a:ext cx="171450" cy="38100"/>
          </a:xfrm>
          <a:prstGeom prst="rect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3" name="Равнобедренный треугольник 62">
            <a:extLst>
              <a:ext uri="{FF2B5EF4-FFF2-40B4-BE49-F238E27FC236}">
                <a16:creationId xmlns:a16="http://schemas.microsoft.com/office/drawing/2014/main" id="{158BDF01-923D-4C00-B439-553B46025F91}"/>
              </a:ext>
            </a:extLst>
          </p:cNvPr>
          <p:cNvSpPr>
            <a:spLocks noGrp="1"/>
          </p:cNvSpPr>
          <p:nvPr/>
        </p:nvSpPr>
        <p:spPr>
          <a:xfrm>
            <a:off x="9258300" y="3371850"/>
            <a:ext cx="152400" cy="190500"/>
          </a:xfrm>
          <a:prstGeom prst="triangle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3BC3215A-E7E2-4006-99A8-990FA2BCF723}"/>
              </a:ext>
            </a:extLst>
          </p:cNvPr>
          <p:cNvSpPr>
            <a:spLocks noGrp="1"/>
          </p:cNvSpPr>
          <p:nvPr/>
        </p:nvSpPr>
        <p:spPr>
          <a:xfrm>
            <a:off x="9391650" y="2857500"/>
            <a:ext cx="1809750" cy="1257300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739B6F14-1232-440E-B94C-655F32401C2B}"/>
              </a:ext>
            </a:extLst>
          </p:cNvPr>
          <p:cNvSpPr>
            <a:spLocks noGrp="1"/>
          </p:cNvSpPr>
          <p:nvPr/>
        </p:nvSpPr>
        <p:spPr>
          <a:xfrm>
            <a:off x="9391650" y="2857500"/>
            <a:ext cx="66675" cy="1257300"/>
          </a:xfrm>
          <a:prstGeom prst="rect">
            <a:avLst/>
          </a:prstGeom>
          <a:solidFill>
            <a:srgbClr val="2D9A6A"/>
          </a:solidFill>
          <a:ln w="0">
            <a:solidFill>
              <a:srgbClr val="2D9A6A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349B5EA4-44FF-4F2B-8811-7FEAB1CCF12F}"/>
              </a:ext>
            </a:extLst>
          </p:cNvPr>
          <p:cNvSpPr>
            <a:spLocks noGrp="1"/>
          </p:cNvSpPr>
          <p:nvPr/>
        </p:nvSpPr>
        <p:spPr>
          <a:xfrm>
            <a:off x="9601200" y="3028950"/>
            <a:ext cx="1390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5. ТО</a:t>
            </a: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AE4B8BF7-3D99-4179-9197-6042671680F7}"/>
              </a:ext>
            </a:extLst>
          </p:cNvPr>
          <p:cNvSpPr>
            <a:spLocks noGrp="1"/>
          </p:cNvSpPr>
          <p:nvPr/>
        </p:nvSpPr>
        <p:spPr>
          <a:xfrm>
            <a:off x="9601200" y="3409950"/>
            <a:ext cx="140970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05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порог RUL</a:t>
            </a:r>
          </a:p>
          <a:p>
            <a:pPr algn="l">
              <a:defRPr sz="105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05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предупреждение</a:t>
            </a:r>
          </a:p>
          <a:p>
            <a:pPr algn="l">
              <a:defRPr sz="105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05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рекомендация</a:t>
            </a:r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E1AD9B4B-9B4C-4DAF-B0B5-BDB72EB7AB6B}"/>
              </a:ext>
            </a:extLst>
          </p:cNvPr>
          <p:cNvSpPr>
            <a:spLocks noGrp="1"/>
          </p:cNvSpPr>
          <p:nvPr/>
        </p:nvSpPr>
        <p:spPr>
          <a:xfrm>
            <a:off x="1524000" y="4857750"/>
            <a:ext cx="8572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ru-RU" sz="1650" b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Алгоритм превращает фазовую телеметрию в оценку остаточного ресурса и предупреждение для обслуживания.</a:t>
            </a:r>
          </a:p>
        </p:txBody>
      </p:sp>
    </p:spTree>
    <p:extLst>
      <p:ext uri="{BB962C8B-B14F-4D97-AF65-F5344CB8AC3E}">
        <p14:creationId xmlns:p14="http://schemas.microsoft.com/office/powerpoint/2010/main" val="628835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27">
            <a:extLst>
              <a:ext uri="{FF2B5EF4-FFF2-40B4-BE49-F238E27FC236}">
                <a16:creationId xmlns:a16="http://schemas.microsoft.com/office/drawing/2014/main" id="{B712E947-0734-45F9-9C4F-41114EC3A3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36" name="Rectangle 29">
            <a:extLst>
              <a:ext uri="{FF2B5EF4-FFF2-40B4-BE49-F238E27FC236}">
                <a16:creationId xmlns:a16="http://schemas.microsoft.com/office/drawing/2014/main" id="{5A65989E-BBD5-44D7-AA86-7AFD5D46BBC0}"/>
              </a:ext>
            </a:extLst>
          </p:cNvPr>
          <p:cNvSpPr>
            <a:spLocks noGrp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66000">
                <a:srgbClr val="000000"/>
              </a:gs>
            </a:gsLst>
            <a:lin ang="10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37" name="Rectangle 31">
            <a:extLst>
              <a:ext uri="{FF2B5EF4-FFF2-40B4-BE49-F238E27FC236}">
                <a16:creationId xmlns:a16="http://schemas.microsoft.com/office/drawing/2014/main" id="{231A2881-D8D7-4A7D-ACA3-E9F849F853D8}"/>
              </a:ext>
            </a:extLst>
          </p:cNvPr>
          <p:cNvSpPr>
            <a:spLocks noGrp="1"/>
          </p:cNvSpPr>
          <p:nvPr/>
        </p:nvSpPr>
        <p:spPr>
          <a:xfrm flipH="1">
            <a:off x="1" y="6400800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7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19575E-EF32-587A-0080-E09E887B67D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743945" y="6492447"/>
            <a:ext cx="448056" cy="365125"/>
          </a:xfrm>
        </p:spPr>
        <p:txBody>
          <a:bodyPr vert="horz" lIns="91440" tIns="45720" rIns="91440" bIns="45720" anchor="ctr"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ru-RU" noProof="0" dirty="0"/>
              <a:t>12</a:t>
            </a: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F668C8AD-1795-4B52-B586-4ADB21BC2471}"/>
              </a:ext>
            </a:extLst>
          </p:cNvPr>
          <p:cNvSpPr>
            <a:spLocks noGrp="1"/>
          </p:cNvSpPr>
          <p:nvPr/>
        </p:nvSpPr>
        <p:spPr>
          <a:xfrm>
            <a:off x="800100" y="609600"/>
            <a:ext cx="9715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3150" b="0" noProof="0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Модель деградации узлов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2FD94356-8E42-4E07-9724-9551BDCB5D9B}"/>
              </a:ext>
            </a:extLst>
          </p:cNvPr>
          <p:cNvSpPr>
            <a:spLocks noGrp="1"/>
          </p:cNvSpPr>
          <p:nvPr/>
        </p:nvSpPr>
        <p:spPr>
          <a:xfrm>
            <a:off x="819150" y="2381250"/>
            <a:ext cx="3238500" cy="1333500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6D655FCF-61A6-4265-AEF0-14F6767F9F03}"/>
              </a:ext>
            </a:extLst>
          </p:cNvPr>
          <p:cNvSpPr>
            <a:spLocks noGrp="1"/>
          </p:cNvSpPr>
          <p:nvPr/>
        </p:nvSpPr>
        <p:spPr>
          <a:xfrm>
            <a:off x="819150" y="2381250"/>
            <a:ext cx="66675" cy="1333500"/>
          </a:xfrm>
          <a:prstGeom prst="rect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F4205CA0-F998-44D4-8451-3619A3BF932E}"/>
              </a:ext>
            </a:extLst>
          </p:cNvPr>
          <p:cNvSpPr>
            <a:spLocks noGrp="1"/>
          </p:cNvSpPr>
          <p:nvPr/>
        </p:nvSpPr>
        <p:spPr>
          <a:xfrm>
            <a:off x="1028700" y="2552700"/>
            <a:ext cx="2819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Сценарии S0-S3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BF79F162-3B83-4F0F-B3AF-B2C773E49A67}"/>
              </a:ext>
            </a:extLst>
          </p:cNvPr>
          <p:cNvSpPr>
            <a:spLocks noGrp="1"/>
          </p:cNvSpPr>
          <p:nvPr/>
        </p:nvSpPr>
        <p:spPr>
          <a:xfrm>
            <a:off x="1028700" y="2933700"/>
            <a:ext cx="2838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S0: нормальный режим</a:t>
            </a:r>
          </a:p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S1-S2: слабая и средняя деградация</a:t>
            </a:r>
          </a:p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S3: ускоренное ухудшение состояния</a:t>
            </a:r>
          </a:p>
        </p:txBody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9C2CF596-E08F-48F1-A865-4F1D33D0C33B}"/>
              </a:ext>
            </a:extLst>
          </p:cNvPr>
          <p:cNvSpPr>
            <a:spLocks noGrp="1"/>
          </p:cNvSpPr>
          <p:nvPr/>
        </p:nvSpPr>
        <p:spPr>
          <a:xfrm>
            <a:off x="819150" y="4000500"/>
            <a:ext cx="3238500" cy="1333500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44" name="Прямоугольник 43">
            <a:extLst>
              <a:ext uri="{FF2B5EF4-FFF2-40B4-BE49-F238E27FC236}">
                <a16:creationId xmlns:a16="http://schemas.microsoft.com/office/drawing/2014/main" id="{B0A4BF30-48CE-4DF0-B49E-866E12D89CE5}"/>
              </a:ext>
            </a:extLst>
          </p:cNvPr>
          <p:cNvSpPr>
            <a:spLocks noGrp="1"/>
          </p:cNvSpPr>
          <p:nvPr/>
        </p:nvSpPr>
        <p:spPr>
          <a:xfrm>
            <a:off x="819150" y="4000500"/>
            <a:ext cx="66675" cy="1333500"/>
          </a:xfrm>
          <a:prstGeom prst="rect">
            <a:avLst/>
          </a:prstGeom>
          <a:solidFill>
            <a:srgbClr val="2D9A6A"/>
          </a:solidFill>
          <a:ln w="0">
            <a:solidFill>
              <a:srgbClr val="2D9A6A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7F71957C-6A74-41B3-8940-58BC1D68CA21}"/>
              </a:ext>
            </a:extLst>
          </p:cNvPr>
          <p:cNvSpPr>
            <a:spLocks noGrp="1"/>
          </p:cNvSpPr>
          <p:nvPr/>
        </p:nvSpPr>
        <p:spPr>
          <a:xfrm>
            <a:off x="1028700" y="4171950"/>
            <a:ext cx="2819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Health Indicator</a:t>
            </a:r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1E0EBFBB-0895-4F16-94C1-70712209256C}"/>
              </a:ext>
            </a:extLst>
          </p:cNvPr>
          <p:cNvSpPr>
            <a:spLocks noGrp="1"/>
          </p:cNvSpPr>
          <p:nvPr/>
        </p:nvSpPr>
        <p:spPr>
          <a:xfrm>
            <a:off x="1028700" y="4552950"/>
            <a:ext cx="28384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HI снижается с накоплением повреждения</a:t>
            </a:r>
          </a:p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предельное состояние задает RUL</a:t>
            </a:r>
          </a:p>
        </p:txBody>
      </p:sp>
      <p:pic>
        <p:nvPicPr>
          <p:cNvPr id="48" name="Рисунок 4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91050" y="2200606"/>
            <a:ext cx="6496050" cy="369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585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79E27D9-03C7-44E2-9FF8-15D0C8506A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BF1590-3B36-48EE-A89D-3B6F3CB256AB}"/>
              </a:ext>
            </a:extLst>
          </p:cNvPr>
          <p:cNvSpPr>
            <a:spLocks noGrp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8F6C8C-AB5A-4548-942D-E3FD40ACBC49}"/>
              </a:ext>
            </a:extLst>
          </p:cNvPr>
          <p:cNvSpPr>
            <a:spLocks noGrp="1"/>
          </p:cNvSpPr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13F7AFC-0380-28BE-11AC-22C98C7E0DA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743942" y="6492875"/>
            <a:ext cx="448056" cy="365125"/>
          </a:xfrm>
        </p:spPr>
        <p:txBody>
          <a:bodyPr vert="horz" lIns="91440" tIns="45720" rIns="91440" bIns="45720" anchor="ctr"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ru-RU" noProof="0" dirty="0"/>
              <a:t>13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52B6074-28FC-49BD-A1B9-CD33D51D8DE7}"/>
              </a:ext>
            </a:extLst>
          </p:cNvPr>
          <p:cNvSpPr>
            <a:spLocks noGrp="1"/>
          </p:cNvSpPr>
          <p:nvPr/>
        </p:nvSpPr>
        <p:spPr>
          <a:xfrm>
            <a:off x="800100" y="609600"/>
            <a:ext cx="9715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3150" b="0" noProof="0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Результаты апробации ПАК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C854169-7BB9-4A09-9573-3E84C52A349F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2381250" cy="1162050"/>
          </a:xfrm>
          <a:prstGeom prst="rect">
            <a:avLst/>
          </a:prstGeom>
          <a:solidFill>
            <a:srgbClr val="F7FBFC"/>
          </a:solidFill>
          <a:ln w="10478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B783899-28E2-4B3C-BD39-7F1892FD6DCB}"/>
              </a:ext>
            </a:extLst>
          </p:cNvPr>
          <p:cNvSpPr>
            <a:spLocks noGrp="1"/>
          </p:cNvSpPr>
          <p:nvPr/>
        </p:nvSpPr>
        <p:spPr>
          <a:xfrm>
            <a:off x="1047750" y="2628900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3369C7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2100" b="1" noProof="0" dirty="0">
                <a:solidFill>
                  <a:srgbClr val="3369C7"/>
                </a:solidFill>
                <a:latin typeface="Aptos Display"/>
                <a:ea typeface="Aptos Display"/>
                <a:cs typeface="Aptos Display"/>
              </a:rPr>
              <a:t>22174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85D9E1D-E62D-4F37-9130-972CED9F2799}"/>
              </a:ext>
            </a:extLst>
          </p:cNvPr>
          <p:cNvSpPr>
            <a:spLocks noGrp="1"/>
          </p:cNvSpPr>
          <p:nvPr/>
        </p:nvSpPr>
        <p:spPr>
          <a:xfrm>
            <a:off x="1047750" y="3028950"/>
            <a:ext cx="20383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сырых пакета телеметрии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E6964BD-3309-4CA6-8BCC-AC3F91D1BF0A}"/>
              </a:ext>
            </a:extLst>
          </p:cNvPr>
          <p:cNvSpPr>
            <a:spLocks noGrp="1"/>
          </p:cNvSpPr>
          <p:nvPr/>
        </p:nvSpPr>
        <p:spPr>
          <a:xfrm>
            <a:off x="3581400" y="2476500"/>
            <a:ext cx="2381250" cy="1162050"/>
          </a:xfrm>
          <a:prstGeom prst="rect">
            <a:avLst/>
          </a:prstGeom>
          <a:solidFill>
            <a:srgbClr val="F7FBFC"/>
          </a:solidFill>
          <a:ln w="10478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4972E471-CC01-4FA9-9DC0-0B15C8676192}"/>
              </a:ext>
            </a:extLst>
          </p:cNvPr>
          <p:cNvSpPr>
            <a:spLocks noGrp="1"/>
          </p:cNvSpPr>
          <p:nvPr/>
        </p:nvSpPr>
        <p:spPr>
          <a:xfrm>
            <a:off x="3752850" y="2628900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3369C7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2100" b="1" noProof="0" dirty="0">
                <a:solidFill>
                  <a:srgbClr val="3369C7"/>
                </a:solidFill>
                <a:latin typeface="Aptos Display"/>
                <a:ea typeface="Aptos Display"/>
                <a:cs typeface="Aptos Display"/>
              </a:rPr>
              <a:t>88696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152B2B4-9E09-4671-A0FD-7DA72AE3B6C0}"/>
              </a:ext>
            </a:extLst>
          </p:cNvPr>
          <p:cNvSpPr>
            <a:spLocks noGrp="1"/>
          </p:cNvSpPr>
          <p:nvPr/>
        </p:nvSpPr>
        <p:spPr>
          <a:xfrm>
            <a:off x="3752850" y="3028950"/>
            <a:ext cx="20383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нормализованных строк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A305E35-CCCE-4E98-B40C-D6EBBEF49607}"/>
              </a:ext>
            </a:extLst>
          </p:cNvPr>
          <p:cNvSpPr>
            <a:spLocks noGrp="1"/>
          </p:cNvSpPr>
          <p:nvPr/>
        </p:nvSpPr>
        <p:spPr>
          <a:xfrm>
            <a:off x="6286500" y="2476500"/>
            <a:ext cx="2381250" cy="1162050"/>
          </a:xfrm>
          <a:prstGeom prst="rect">
            <a:avLst/>
          </a:prstGeom>
          <a:solidFill>
            <a:srgbClr val="F7FBFC"/>
          </a:solidFill>
          <a:ln w="10478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7C6F7C0-CCDE-40C0-AFE5-E6EB53E2967E}"/>
              </a:ext>
            </a:extLst>
          </p:cNvPr>
          <p:cNvSpPr>
            <a:spLocks noGrp="1"/>
          </p:cNvSpPr>
          <p:nvPr/>
        </p:nvSpPr>
        <p:spPr>
          <a:xfrm>
            <a:off x="6457950" y="2628900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D9A6A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2100" b="1" noProof="0" dirty="0">
                <a:solidFill>
                  <a:srgbClr val="2D9A6A"/>
                </a:solidFill>
                <a:latin typeface="Aptos Display"/>
                <a:ea typeface="Aptos Display"/>
                <a:cs typeface="Aptos Display"/>
              </a:rPr>
              <a:t>600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5B027E30-B9F3-4EF1-9D83-6DB05EC1926E}"/>
              </a:ext>
            </a:extLst>
          </p:cNvPr>
          <p:cNvSpPr>
            <a:spLocks noGrp="1"/>
          </p:cNvSpPr>
          <p:nvPr/>
        </p:nvSpPr>
        <p:spPr>
          <a:xfrm>
            <a:off x="6457950" y="3028950"/>
            <a:ext cx="20383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строк фазовых признаков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91DBE469-645B-4CF4-AACD-6B5A39DD41E7}"/>
              </a:ext>
            </a:extLst>
          </p:cNvPr>
          <p:cNvSpPr>
            <a:spLocks noGrp="1"/>
          </p:cNvSpPr>
          <p:nvPr/>
        </p:nvSpPr>
        <p:spPr>
          <a:xfrm>
            <a:off x="8991600" y="2476500"/>
            <a:ext cx="2381250" cy="1162050"/>
          </a:xfrm>
          <a:prstGeom prst="rect">
            <a:avLst/>
          </a:prstGeom>
          <a:solidFill>
            <a:srgbClr val="F7FBFC"/>
          </a:solidFill>
          <a:ln w="10478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12F7C36-2373-4149-A565-23634B34B8F3}"/>
              </a:ext>
            </a:extLst>
          </p:cNvPr>
          <p:cNvSpPr>
            <a:spLocks noGrp="1"/>
          </p:cNvSpPr>
          <p:nvPr/>
        </p:nvSpPr>
        <p:spPr>
          <a:xfrm>
            <a:off x="9163050" y="2628900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2D9A6A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1875" b="1" noProof="0" dirty="0">
                <a:solidFill>
                  <a:srgbClr val="2D9A6A"/>
                </a:solidFill>
                <a:latin typeface="Aptos Display"/>
                <a:ea typeface="Aptos Display"/>
                <a:cs typeface="Aptos Display"/>
              </a:rPr>
              <a:t>192000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6685F35-349B-4503-898E-198285480ED7}"/>
              </a:ext>
            </a:extLst>
          </p:cNvPr>
          <p:cNvSpPr>
            <a:spLocks noGrp="1"/>
          </p:cNvSpPr>
          <p:nvPr/>
        </p:nvSpPr>
        <p:spPr>
          <a:xfrm>
            <a:off x="9163050" y="3028950"/>
            <a:ext cx="20383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RUL-оценок и нейросетевых прогнозов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962E28C7-7C48-421D-8719-018CF75BAB24}"/>
              </a:ext>
            </a:extLst>
          </p:cNvPr>
          <p:cNvSpPr>
            <a:spLocks noGrp="1"/>
          </p:cNvSpPr>
          <p:nvPr/>
        </p:nvSpPr>
        <p:spPr>
          <a:xfrm>
            <a:off x="2228850" y="4114800"/>
            <a:ext cx="2381250" cy="1162050"/>
          </a:xfrm>
          <a:prstGeom prst="rect">
            <a:avLst/>
          </a:prstGeom>
          <a:solidFill>
            <a:srgbClr val="F7FBFC"/>
          </a:solidFill>
          <a:ln w="10478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61BFE7E4-E06E-4D89-BD18-505105BF312B}"/>
              </a:ext>
            </a:extLst>
          </p:cNvPr>
          <p:cNvSpPr>
            <a:spLocks noGrp="1"/>
          </p:cNvSpPr>
          <p:nvPr/>
        </p:nvSpPr>
        <p:spPr>
          <a:xfrm>
            <a:off x="2400300" y="4267200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D96C3D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1650" b="1" noProof="0" dirty="0" err="1">
                <a:solidFill>
                  <a:srgbClr val="D96C3D"/>
                </a:solidFill>
                <a:latin typeface="Aptos Display"/>
                <a:ea typeface="Aptos Display"/>
                <a:cs typeface="Aptos Display"/>
              </a:rPr>
              <a:t>K_data</a:t>
            </a:r>
            <a:r>
              <a:rPr lang="ru-RU" sz="1650" b="1" noProof="0" dirty="0">
                <a:solidFill>
                  <a:srgbClr val="D96C3D"/>
                </a:solidFill>
                <a:latin typeface="Aptos Display"/>
                <a:ea typeface="Aptos Display"/>
                <a:cs typeface="Aptos Display"/>
              </a:rPr>
              <a:t> = 1.000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B0FC2633-39A2-4984-A04F-2D11C1CA74AF}"/>
              </a:ext>
            </a:extLst>
          </p:cNvPr>
          <p:cNvSpPr>
            <a:spLocks noGrp="1"/>
          </p:cNvSpPr>
          <p:nvPr/>
        </p:nvSpPr>
        <p:spPr>
          <a:xfrm>
            <a:off x="2400300" y="4667250"/>
            <a:ext cx="20383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валидность данных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4950F8CC-9DF6-4637-A8CF-DD640F7EEA62}"/>
              </a:ext>
            </a:extLst>
          </p:cNvPr>
          <p:cNvSpPr>
            <a:spLocks noGrp="1"/>
          </p:cNvSpPr>
          <p:nvPr/>
        </p:nvSpPr>
        <p:spPr>
          <a:xfrm>
            <a:off x="4914900" y="4114800"/>
            <a:ext cx="2381250" cy="1162050"/>
          </a:xfrm>
          <a:prstGeom prst="rect">
            <a:avLst/>
          </a:prstGeom>
          <a:solidFill>
            <a:srgbClr val="F7FBFC"/>
          </a:solidFill>
          <a:ln w="10478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FC338CFB-4CC6-4EF8-9D43-D1D520450D4E}"/>
              </a:ext>
            </a:extLst>
          </p:cNvPr>
          <p:cNvSpPr>
            <a:spLocks noGrp="1"/>
          </p:cNvSpPr>
          <p:nvPr/>
        </p:nvSpPr>
        <p:spPr>
          <a:xfrm>
            <a:off x="5086350" y="4267200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D96C3D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1650" b="1" noProof="0" dirty="0" err="1">
                <a:solidFill>
                  <a:srgbClr val="D96C3D"/>
                </a:solidFill>
                <a:latin typeface="Aptos Display"/>
                <a:ea typeface="Aptos Display"/>
                <a:cs typeface="Aptos Display"/>
              </a:rPr>
              <a:t>K_phase</a:t>
            </a:r>
            <a:r>
              <a:rPr lang="ru-RU" sz="1650" b="1" noProof="0" dirty="0">
                <a:solidFill>
                  <a:srgbClr val="D96C3D"/>
                </a:solidFill>
                <a:latin typeface="Aptos Display"/>
                <a:ea typeface="Aptos Display"/>
                <a:cs typeface="Aptos Display"/>
              </a:rPr>
              <a:t> = 1.000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1920AB55-3283-4143-A67F-561E1C3AA8F1}"/>
              </a:ext>
            </a:extLst>
          </p:cNvPr>
          <p:cNvSpPr>
            <a:spLocks noGrp="1"/>
          </p:cNvSpPr>
          <p:nvPr/>
        </p:nvSpPr>
        <p:spPr>
          <a:xfrm>
            <a:off x="5086350" y="4667250"/>
            <a:ext cx="20383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покрытие фаз цикла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C826C156-4C45-4440-8193-867D24370FEA}"/>
              </a:ext>
            </a:extLst>
          </p:cNvPr>
          <p:cNvSpPr>
            <a:spLocks noGrp="1"/>
          </p:cNvSpPr>
          <p:nvPr/>
        </p:nvSpPr>
        <p:spPr>
          <a:xfrm>
            <a:off x="7600950" y="4114800"/>
            <a:ext cx="2381250" cy="1162050"/>
          </a:xfrm>
          <a:prstGeom prst="rect">
            <a:avLst/>
          </a:prstGeom>
          <a:solidFill>
            <a:srgbClr val="F7FBFC"/>
          </a:solidFill>
          <a:ln w="10478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5757C567-59E0-4CC4-9AD8-19DAA0B4A647}"/>
              </a:ext>
            </a:extLst>
          </p:cNvPr>
          <p:cNvSpPr>
            <a:spLocks noGrp="1"/>
          </p:cNvSpPr>
          <p:nvPr/>
        </p:nvSpPr>
        <p:spPr>
          <a:xfrm>
            <a:off x="7772400" y="4267200"/>
            <a:ext cx="20383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D96C3D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1800" b="1" noProof="0" dirty="0">
                <a:solidFill>
                  <a:srgbClr val="D96C3D"/>
                </a:solidFill>
                <a:latin typeface="Aptos Display"/>
                <a:ea typeface="Aptos Display"/>
                <a:cs typeface="Aptos Display"/>
              </a:rPr>
              <a:t>14 фаз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91022F80-BE9F-491B-B9B1-C550DA11BA65}"/>
              </a:ext>
            </a:extLst>
          </p:cNvPr>
          <p:cNvSpPr>
            <a:spLocks noGrp="1"/>
          </p:cNvSpPr>
          <p:nvPr/>
        </p:nvSpPr>
        <p:spPr>
          <a:xfrm>
            <a:off x="7772400" y="4667250"/>
            <a:ext cx="20383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выделено в полном цикле</a:t>
            </a:r>
          </a:p>
        </p:txBody>
      </p:sp>
    </p:spTree>
    <p:extLst>
      <p:ext uri="{BB962C8B-B14F-4D97-AF65-F5344CB8AC3E}">
        <p14:creationId xmlns:p14="http://schemas.microsoft.com/office/powerpoint/2010/main" val="4157692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>
            <a:extLst>
              <a:ext uri="{FF2B5EF4-FFF2-40B4-BE49-F238E27FC236}">
                <a16:creationId xmlns:a16="http://schemas.microsoft.com/office/drawing/2014/main" id="{E3E4F300-0160-9A99-311E-0B03B45E090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E21C495-4386-436D-A749-2BABC66FF4DD}"/>
              </a:ext>
            </a:extLst>
          </p:cNvPr>
          <p:cNvSpPr>
            <a:spLocks noGrp="1"/>
          </p:cNvSpPr>
          <p:nvPr/>
        </p:nvSpPr>
        <p:spPr>
          <a:xfrm>
            <a:off x="800100" y="742950"/>
            <a:ext cx="9715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000000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2850" b="0" noProof="0" dirty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Качество прогноза RUL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1675" y="1676400"/>
            <a:ext cx="7635900" cy="4343400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75F058B-C5BC-48D0-9E72-575B7CADE27A}"/>
              </a:ext>
            </a:extLst>
          </p:cNvPr>
          <p:cNvSpPr>
            <a:spLocks noGrp="1"/>
          </p:cNvSpPr>
          <p:nvPr/>
        </p:nvSpPr>
        <p:spPr>
          <a:xfrm>
            <a:off x="8896350" y="2152650"/>
            <a:ext cx="2247900" cy="939800"/>
          </a:xfrm>
          <a:prstGeom prst="rect">
            <a:avLst/>
          </a:prstGeom>
          <a:solidFill>
            <a:srgbClr val="F7FBFC"/>
          </a:solidFill>
          <a:ln w="10478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5EA76F8-4EC2-49D0-BD5D-7797E3CFD98A}"/>
              </a:ext>
            </a:extLst>
          </p:cNvPr>
          <p:cNvSpPr>
            <a:spLocks noGrp="1"/>
          </p:cNvSpPr>
          <p:nvPr/>
        </p:nvSpPr>
        <p:spPr>
          <a:xfrm>
            <a:off x="9067800" y="2305050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3369C7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1725" b="1" noProof="0" dirty="0">
                <a:solidFill>
                  <a:srgbClr val="3369C7"/>
                </a:solidFill>
                <a:latin typeface="Aptos Display"/>
                <a:ea typeface="Aptos Display"/>
                <a:cs typeface="Aptos Display"/>
              </a:rPr>
              <a:t>MAE = 1.441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8D34CD3-0031-4629-BAED-0BD99B9911ED}"/>
              </a:ext>
            </a:extLst>
          </p:cNvPr>
          <p:cNvSpPr>
            <a:spLocks noGrp="1"/>
          </p:cNvSpPr>
          <p:nvPr/>
        </p:nvSpPr>
        <p:spPr>
          <a:xfrm>
            <a:off x="9067800" y="270510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средняя абсолютная ошибка, циклы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B179074-0B4C-40C4-A217-86F11823AD2A}"/>
              </a:ext>
            </a:extLst>
          </p:cNvPr>
          <p:cNvSpPr>
            <a:spLocks noGrp="1"/>
          </p:cNvSpPr>
          <p:nvPr/>
        </p:nvSpPr>
        <p:spPr>
          <a:xfrm>
            <a:off x="8896350" y="3181349"/>
            <a:ext cx="2247900" cy="939799"/>
          </a:xfrm>
          <a:prstGeom prst="rect">
            <a:avLst/>
          </a:prstGeom>
          <a:solidFill>
            <a:srgbClr val="F7FBFC"/>
          </a:solidFill>
          <a:ln w="10478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2991B7A-ACA7-453A-88A4-C347215AFA61}"/>
              </a:ext>
            </a:extLst>
          </p:cNvPr>
          <p:cNvSpPr>
            <a:spLocks noGrp="1"/>
          </p:cNvSpPr>
          <p:nvPr/>
        </p:nvSpPr>
        <p:spPr>
          <a:xfrm>
            <a:off x="9067800" y="3333750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D96C3D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1725" b="1" noProof="0" dirty="0">
                <a:solidFill>
                  <a:srgbClr val="D96C3D"/>
                </a:solidFill>
                <a:latin typeface="Aptos Display"/>
                <a:ea typeface="Aptos Display"/>
                <a:cs typeface="Aptos Display"/>
              </a:rPr>
              <a:t>RMSE = 2.144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2BF73F1-3A71-4984-9020-4A761D7D12B8}"/>
              </a:ext>
            </a:extLst>
          </p:cNvPr>
          <p:cNvSpPr>
            <a:spLocks noGrp="1"/>
          </p:cNvSpPr>
          <p:nvPr/>
        </p:nvSpPr>
        <p:spPr>
          <a:xfrm>
            <a:off x="9067800" y="373380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среднеквадратичная ошибка, циклы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EDECC8E-015A-4716-AF7C-EDBE778E4559}"/>
              </a:ext>
            </a:extLst>
          </p:cNvPr>
          <p:cNvSpPr>
            <a:spLocks noGrp="1"/>
          </p:cNvSpPr>
          <p:nvPr/>
        </p:nvSpPr>
        <p:spPr>
          <a:xfrm>
            <a:off x="8896350" y="4210050"/>
            <a:ext cx="2247900" cy="838200"/>
          </a:xfrm>
          <a:prstGeom prst="rect">
            <a:avLst/>
          </a:prstGeom>
          <a:solidFill>
            <a:srgbClr val="F7FBFC"/>
          </a:solidFill>
          <a:ln w="10478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1088FF9-D9E0-4DB1-998D-D48774D628B7}"/>
              </a:ext>
            </a:extLst>
          </p:cNvPr>
          <p:cNvSpPr>
            <a:spLocks noGrp="1"/>
          </p:cNvSpPr>
          <p:nvPr/>
        </p:nvSpPr>
        <p:spPr>
          <a:xfrm>
            <a:off x="9067800" y="4362450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2D9A6A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1950" b="1" noProof="0" dirty="0">
                <a:solidFill>
                  <a:srgbClr val="2D9A6A"/>
                </a:solidFill>
                <a:latin typeface="Aptos Display"/>
                <a:ea typeface="Aptos Display"/>
                <a:cs typeface="Aptos Display"/>
              </a:rPr>
              <a:t>R² = 0.988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A4F86BE-A567-445A-9F51-56C6E79B7231}"/>
              </a:ext>
            </a:extLst>
          </p:cNvPr>
          <p:cNvSpPr>
            <a:spLocks noGrp="1"/>
          </p:cNvSpPr>
          <p:nvPr/>
        </p:nvSpPr>
        <p:spPr>
          <a:xfrm>
            <a:off x="9067800" y="4762500"/>
            <a:ext cx="1905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качество аппроксимации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22181A8D-9C56-4522-8626-31A2394A7047}"/>
              </a:ext>
            </a:extLst>
          </p:cNvPr>
          <p:cNvSpPr>
            <a:spLocks noGrp="1"/>
          </p:cNvSpPr>
          <p:nvPr/>
        </p:nvSpPr>
        <p:spPr>
          <a:xfrm>
            <a:off x="8896350" y="5124450"/>
            <a:ext cx="2247900" cy="990600"/>
          </a:xfrm>
          <a:prstGeom prst="rect">
            <a:avLst/>
          </a:prstGeom>
          <a:solidFill>
            <a:srgbClr val="F7FBFC"/>
          </a:solidFill>
          <a:ln w="10478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489CF4F-E1FE-48F8-A7D7-F7F1014173A8}"/>
              </a:ext>
            </a:extLst>
          </p:cNvPr>
          <p:cNvSpPr>
            <a:spLocks noGrp="1"/>
          </p:cNvSpPr>
          <p:nvPr/>
        </p:nvSpPr>
        <p:spPr>
          <a:xfrm>
            <a:off x="9067800" y="5276850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3369C7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1575" b="1" noProof="0" dirty="0">
                <a:solidFill>
                  <a:srgbClr val="3369C7"/>
                </a:solidFill>
                <a:latin typeface="Aptos Display"/>
                <a:ea typeface="Aptos Display"/>
                <a:cs typeface="Aptos Display"/>
              </a:rPr>
              <a:t>MLPRegressor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A519184-4E76-4F24-BEF2-0EEB5FF3912C}"/>
              </a:ext>
            </a:extLst>
          </p:cNvPr>
          <p:cNvSpPr>
            <a:spLocks noGrp="1"/>
          </p:cNvSpPr>
          <p:nvPr/>
        </p:nvSpPr>
        <p:spPr>
          <a:xfrm>
            <a:off x="9067800" y="5676900"/>
            <a:ext cx="19050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05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сценарии S0-S3, модельные деградационные данные</a:t>
            </a:r>
          </a:p>
        </p:txBody>
      </p:sp>
      <p:sp>
        <p:nvSpPr>
          <p:cNvPr id="3" name="Rectangle 14">
            <a:extLst>
              <a:ext uri="{FF2B5EF4-FFF2-40B4-BE49-F238E27FC236}">
                <a16:creationId xmlns:a16="http://schemas.microsoft.com/office/drawing/2014/main" id="{DCFF90EE-1F36-0210-ECB7-0EED24659C37}"/>
              </a:ext>
            </a:extLst>
          </p:cNvPr>
          <p:cNvSpPr>
            <a:spLocks noGrp="1"/>
          </p:cNvSpPr>
          <p:nvPr/>
        </p:nvSpPr>
        <p:spPr>
          <a:xfrm rot="10800000" flipH="1">
            <a:off x="0" y="6401227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20" name="Rectangle 16">
            <a:extLst>
              <a:ext uri="{FF2B5EF4-FFF2-40B4-BE49-F238E27FC236}">
                <a16:creationId xmlns:a16="http://schemas.microsoft.com/office/drawing/2014/main" id="{58FF6245-71F4-C094-1792-338C952EBB49}"/>
              </a:ext>
            </a:extLst>
          </p:cNvPr>
          <p:cNvSpPr>
            <a:spLocks noGrp="1"/>
          </p:cNvSpPr>
          <p:nvPr/>
        </p:nvSpPr>
        <p:spPr>
          <a:xfrm flipH="1">
            <a:off x="4038600" y="6401227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FCD4F46-746F-4D9D-89C1-DF1F7073F686}"/>
              </a:ext>
            </a:extLst>
          </p:cNvPr>
          <p:cNvSpPr>
            <a:spLocks noGrp="1"/>
          </p:cNvSpPr>
          <p:nvPr/>
        </p:nvSpPr>
        <p:spPr>
          <a:xfrm>
            <a:off x="1524000" y="6191250"/>
            <a:ext cx="7239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D7480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chemeClr val="bg1"/>
                </a:solidFill>
                <a:latin typeface="Aptos"/>
                <a:ea typeface="Aptos"/>
                <a:cs typeface="Aptos"/>
              </a:rPr>
              <a:t>Метрики получены на модельных деградационных сценариях S0-S3.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D5755CC-0EE9-6746-F248-83EB134DCD7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436098" y="6492874"/>
            <a:ext cx="2743200" cy="365125"/>
          </a:xfrm>
        </p:spPr>
        <p:txBody>
          <a:bodyPr/>
          <a:lstStyle/>
          <a:p>
            <a:r>
              <a:rPr lang="ru-RU" noProof="0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3086313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11">
            <a:extLst>
              <a:ext uri="{FF2B5EF4-FFF2-40B4-BE49-F238E27FC236}">
                <a16:creationId xmlns:a16="http://schemas.microsoft.com/office/drawing/2014/main" id="{979E27D9-03C7-44E2-9FF8-15D0C8506A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45" name="Rectangle 13">
            <a:extLst>
              <a:ext uri="{FF2B5EF4-FFF2-40B4-BE49-F238E27FC236}">
                <a16:creationId xmlns:a16="http://schemas.microsoft.com/office/drawing/2014/main" id="{EEBF1590-3B36-48EE-A89D-3B6F3CB256AB}"/>
              </a:ext>
            </a:extLst>
          </p:cNvPr>
          <p:cNvSpPr>
            <a:spLocks noGrp="1"/>
          </p:cNvSpPr>
          <p:nvPr/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46" name="Rectangle 15">
            <a:extLst>
              <a:ext uri="{FF2B5EF4-FFF2-40B4-BE49-F238E27FC236}">
                <a16:creationId xmlns:a16="http://schemas.microsoft.com/office/drawing/2014/main" id="{AC8F6C8C-AB5A-4548-942D-E3FD40ACBC49}"/>
              </a:ext>
            </a:extLst>
          </p:cNvPr>
          <p:cNvSpPr>
            <a:spLocks noGrp="1"/>
          </p:cNvSpPr>
          <p:nvPr/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624158B-653A-2689-DEE3-47062E908E3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743942" y="6492446"/>
            <a:ext cx="448056" cy="365125"/>
          </a:xfrm>
        </p:spPr>
        <p:txBody>
          <a:bodyPr vert="horz" lIns="91440" tIns="45720" rIns="91440" bIns="45720" anchor="ctr"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ru-RU" noProof="0" dirty="0"/>
              <a:t>15</a:t>
            </a:r>
          </a:p>
        </p:txBody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AA47152A-5F1D-4A05-9839-37AEAA2DF846}"/>
              </a:ext>
            </a:extLst>
          </p:cNvPr>
          <p:cNvSpPr>
            <a:spLocks noGrp="1"/>
          </p:cNvSpPr>
          <p:nvPr/>
        </p:nvSpPr>
        <p:spPr>
          <a:xfrm>
            <a:off x="800100" y="609600"/>
            <a:ext cx="9715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3150" b="0" noProof="0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Операторский мониторинг</a:t>
            </a:r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4D47E718-336F-43FE-BBCB-8991BC1C7578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2952750" cy="1371600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DE5DB83B-7994-459D-8271-E24D3F89BE51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66675" cy="1371600"/>
          </a:xfrm>
          <a:prstGeom prst="rect">
            <a:avLst/>
          </a:prstGeom>
          <a:solidFill>
            <a:srgbClr val="3369C7"/>
          </a:solidFill>
          <a:ln w="0">
            <a:solidFill>
              <a:srgbClr val="3369C7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329039EE-C6C9-4C36-B7F1-111F928E90A2}"/>
              </a:ext>
            </a:extLst>
          </p:cNvPr>
          <p:cNvSpPr>
            <a:spLocks noGrp="1"/>
          </p:cNvSpPr>
          <p:nvPr/>
        </p:nvSpPr>
        <p:spPr>
          <a:xfrm>
            <a:off x="895350" y="2743200"/>
            <a:ext cx="2533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Назначение</a:t>
            </a:r>
          </a:p>
        </p:txBody>
      </p:sp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50C9B0E2-C6E3-4593-BFB4-6469D4F81206}"/>
              </a:ext>
            </a:extLst>
          </p:cNvPr>
          <p:cNvSpPr>
            <a:spLocks noGrp="1"/>
          </p:cNvSpPr>
          <p:nvPr/>
        </p:nvSpPr>
        <p:spPr>
          <a:xfrm>
            <a:off x="895350" y="3124200"/>
            <a:ext cx="25527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показывать состояние узлов</a:t>
            </a:r>
          </a:p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фиксировать события цикла</a:t>
            </a:r>
          </a:p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выдавать предупреждения по RUL</a:t>
            </a:r>
          </a:p>
        </p:txBody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4670D5AB-ED91-46FE-8C78-318B7D8B2C64}"/>
              </a:ext>
            </a:extLst>
          </p:cNvPr>
          <p:cNvSpPr>
            <a:spLocks noGrp="1"/>
          </p:cNvSpPr>
          <p:nvPr/>
        </p:nvSpPr>
        <p:spPr>
          <a:xfrm>
            <a:off x="685800" y="4248150"/>
            <a:ext cx="2952750" cy="1371600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D99CDAFE-AEE9-4046-B10E-5DDE6113EFC7}"/>
              </a:ext>
            </a:extLst>
          </p:cNvPr>
          <p:cNvSpPr>
            <a:spLocks noGrp="1"/>
          </p:cNvSpPr>
          <p:nvPr/>
        </p:nvSpPr>
        <p:spPr>
          <a:xfrm>
            <a:off x="685800" y="4248150"/>
            <a:ext cx="66675" cy="1371600"/>
          </a:xfrm>
          <a:prstGeom prst="rect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DF600122-4196-46B5-869E-A868888DDF8C}"/>
              </a:ext>
            </a:extLst>
          </p:cNvPr>
          <p:cNvSpPr>
            <a:spLocks noGrp="1"/>
          </p:cNvSpPr>
          <p:nvPr/>
        </p:nvSpPr>
        <p:spPr>
          <a:xfrm>
            <a:off x="895350" y="4419600"/>
            <a:ext cx="2533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Инфраструктура</a:t>
            </a:r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AD7BEE6F-EECA-4C1A-B5C9-2FB3E6BB11EF}"/>
              </a:ext>
            </a:extLst>
          </p:cNvPr>
          <p:cNvSpPr>
            <a:spLocks noGrp="1"/>
          </p:cNvSpPr>
          <p:nvPr/>
        </p:nvSpPr>
        <p:spPr>
          <a:xfrm>
            <a:off x="895350" y="4800600"/>
            <a:ext cx="255270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InfluxDB: хранение рядов</a:t>
            </a:r>
          </a:p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Grafana: панели и </a:t>
            </a:r>
            <a:r>
              <a:rPr lang="ru-RU" sz="1200" b="0" noProof="0" dirty="0" err="1">
                <a:solidFill>
                  <a:srgbClr val="062B35"/>
                </a:solidFill>
                <a:latin typeface="Aptos"/>
                <a:ea typeface="Aptos"/>
                <a:cs typeface="Aptos"/>
              </a:rPr>
              <a:t>алерты</a:t>
            </a:r>
            <a:endParaRPr lang="ru-RU" sz="1200" b="0" noProof="0" dirty="0">
              <a:solidFill>
                <a:srgbClr val="062B35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средний шаг записи: 0.093 с</a:t>
            </a:r>
          </a:p>
          <a:p>
            <a:pPr algn="l">
              <a:defRPr sz="120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20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обновление панели: 5 с</a:t>
            </a:r>
          </a:p>
        </p:txBody>
      </p:sp>
      <p:pic>
        <p:nvPicPr>
          <p:cNvPr id="57" name="Рисунок 5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282444" y="2343150"/>
            <a:ext cx="6865612" cy="390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0325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</a:extLst>
          </p:cNvPr>
          <p:cNvSpPr>
            <a:spLocks noGrp="1"/>
          </p:cNvSpPr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</a:extLst>
          </p:cNvPr>
          <p:cNvSpPr>
            <a:spLocks noGrp="1"/>
          </p:cNvSpPr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</a:extLst>
          </p:cNvPr>
          <p:cNvSpPr>
            <a:spLocks noGrp="1"/>
          </p:cNvSpPr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</a:extLst>
          </p:cNvPr>
          <p:cNvSpPr>
            <a:spLocks noGrp="1"/>
          </p:cNvSpPr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786DB13-8AF1-149E-A00B-DC57A49BFF6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746083" y="6492875"/>
            <a:ext cx="445913" cy="365125"/>
          </a:xfrm>
        </p:spPr>
        <p:txBody>
          <a:bodyPr vert="horz" lIns="91440" tIns="45720" rIns="91440" bIns="45720" anchor="ctr">
            <a:normAutofit/>
          </a:bodyPr>
          <a:lstStyle/>
          <a:p>
            <a:pPr>
              <a:spcAft>
                <a:spcPts val="600"/>
              </a:spcAft>
              <a:buNone/>
            </a:pPr>
            <a:r>
              <a:rPr lang="ru-RU" noProof="0" dirty="0"/>
              <a:t>16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6971B6D0-138D-409E-92C3-8752ACD63C5A}"/>
              </a:ext>
            </a:extLst>
          </p:cNvPr>
          <p:cNvSpPr>
            <a:spLocks noGrp="1"/>
          </p:cNvSpPr>
          <p:nvPr/>
        </p:nvSpPr>
        <p:spPr>
          <a:xfrm>
            <a:off x="800100" y="609600"/>
            <a:ext cx="97155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150" b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3150" b="0" noProof="0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Экономический эффект и выводы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5034A82-8184-4792-B2D4-57C8110B6026}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2857500" cy="1200150"/>
          </a:xfrm>
          <a:prstGeom prst="rect">
            <a:avLst/>
          </a:prstGeom>
          <a:solidFill>
            <a:srgbClr val="F7FBFC"/>
          </a:solidFill>
          <a:ln w="10478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793ED02-DBB1-4B06-85E9-DAB8B6C891DF}"/>
              </a:ext>
            </a:extLst>
          </p:cNvPr>
          <p:cNvSpPr>
            <a:spLocks noGrp="1"/>
          </p:cNvSpPr>
          <p:nvPr/>
        </p:nvSpPr>
        <p:spPr>
          <a:xfrm>
            <a:off x="1162050" y="2724150"/>
            <a:ext cx="2514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D96C3D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1875" b="1" noProof="0" dirty="0">
                <a:solidFill>
                  <a:srgbClr val="D96C3D"/>
                </a:solidFill>
                <a:latin typeface="Aptos Display"/>
                <a:ea typeface="Aptos Display"/>
                <a:cs typeface="Aptos Display"/>
              </a:rPr>
              <a:t>450000 </a:t>
            </a:r>
            <a:r>
              <a:rPr lang="ru-RU" sz="1875" b="1" noProof="0" dirty="0" err="1">
                <a:solidFill>
                  <a:srgbClr val="D96C3D"/>
                </a:solidFill>
                <a:latin typeface="Aptos Display"/>
                <a:ea typeface="Aptos Display"/>
                <a:cs typeface="Aptos Display"/>
              </a:rPr>
              <a:t>руб</a:t>
            </a:r>
            <a:r>
              <a:rPr lang="ru-RU" sz="1875" b="1" noProof="0" dirty="0">
                <a:solidFill>
                  <a:srgbClr val="D96C3D"/>
                </a:solidFill>
                <a:latin typeface="Aptos Display"/>
                <a:ea typeface="Aptos Display"/>
                <a:cs typeface="Aptos Display"/>
              </a:rPr>
              <a:t>/год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B9EE93D-2BBB-4A3C-AC70-A1E2DA8CE3CA}"/>
              </a:ext>
            </a:extLst>
          </p:cNvPr>
          <p:cNvSpPr>
            <a:spLocks noGrp="1"/>
          </p:cNvSpPr>
          <p:nvPr/>
        </p:nvSpPr>
        <p:spPr>
          <a:xfrm>
            <a:off x="1162050" y="3124200"/>
            <a:ext cx="2514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расчетный эффект от снижения потерь и простоев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01593432-5C1F-4105-B3B3-80959C81A38F}"/>
              </a:ext>
            </a:extLst>
          </p:cNvPr>
          <p:cNvSpPr>
            <a:spLocks noGrp="1"/>
          </p:cNvSpPr>
          <p:nvPr/>
        </p:nvSpPr>
        <p:spPr>
          <a:xfrm>
            <a:off x="4667250" y="2571750"/>
            <a:ext cx="2857500" cy="1200150"/>
          </a:xfrm>
          <a:prstGeom prst="rect">
            <a:avLst/>
          </a:prstGeom>
          <a:solidFill>
            <a:srgbClr val="F7FBFC"/>
          </a:solidFill>
          <a:ln w="10478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32112C3-7E8E-4EDD-86B5-550F29C7C58E}"/>
              </a:ext>
            </a:extLst>
          </p:cNvPr>
          <p:cNvSpPr>
            <a:spLocks noGrp="1"/>
          </p:cNvSpPr>
          <p:nvPr/>
        </p:nvSpPr>
        <p:spPr>
          <a:xfrm>
            <a:off x="4838700" y="2724150"/>
            <a:ext cx="2514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D9A6A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2250" b="1" noProof="0" dirty="0">
                <a:solidFill>
                  <a:srgbClr val="2D9A6A"/>
                </a:solidFill>
                <a:latin typeface="Aptos Display"/>
                <a:ea typeface="Aptos Display"/>
                <a:cs typeface="Aptos Display"/>
              </a:rPr>
              <a:t>1.0 год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F1133A56-D16D-4D95-8E1D-0EB20528A162}"/>
              </a:ext>
            </a:extLst>
          </p:cNvPr>
          <p:cNvSpPr>
            <a:spLocks noGrp="1"/>
          </p:cNvSpPr>
          <p:nvPr/>
        </p:nvSpPr>
        <p:spPr>
          <a:xfrm>
            <a:off x="4838700" y="3124200"/>
            <a:ext cx="2514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ориентировочный срок окупаемости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891C48F9-19D9-4434-9B57-93A4C24BD7DD}"/>
              </a:ext>
            </a:extLst>
          </p:cNvPr>
          <p:cNvSpPr>
            <a:spLocks noGrp="1"/>
          </p:cNvSpPr>
          <p:nvPr/>
        </p:nvSpPr>
        <p:spPr>
          <a:xfrm>
            <a:off x="8343900" y="2571750"/>
            <a:ext cx="2857500" cy="1200150"/>
          </a:xfrm>
          <a:prstGeom prst="rect">
            <a:avLst/>
          </a:prstGeom>
          <a:solidFill>
            <a:srgbClr val="F7FBFC"/>
          </a:solidFill>
          <a:ln w="10478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285A4DB-0CB7-4D70-AAAC-1D5C99467388}"/>
              </a:ext>
            </a:extLst>
          </p:cNvPr>
          <p:cNvSpPr>
            <a:spLocks noGrp="1"/>
          </p:cNvSpPr>
          <p:nvPr/>
        </p:nvSpPr>
        <p:spPr>
          <a:xfrm>
            <a:off x="8515350" y="2724150"/>
            <a:ext cx="25146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75" b="1">
                <a:solidFill>
                  <a:srgbClr val="3369C7"/>
                </a:solidFill>
                <a:latin typeface="Aptos Display"/>
                <a:ea typeface="Aptos Display"/>
                <a:cs typeface="Aptos Display"/>
              </a:defRPr>
            </a:pPr>
            <a:r>
              <a:rPr lang="ru-RU" sz="1875" b="1" noProof="0" dirty="0" err="1">
                <a:solidFill>
                  <a:srgbClr val="3369C7"/>
                </a:solidFill>
                <a:latin typeface="Aptos Display"/>
                <a:ea typeface="Aptos Display"/>
                <a:cs typeface="Aptos Display"/>
              </a:rPr>
              <a:t>K_pred</a:t>
            </a:r>
            <a:r>
              <a:rPr lang="ru-RU" sz="1875" b="1" noProof="0" dirty="0">
                <a:solidFill>
                  <a:srgbClr val="3369C7"/>
                </a:solidFill>
                <a:latin typeface="Aptos Display"/>
                <a:ea typeface="Aptos Display"/>
                <a:cs typeface="Aptos Display"/>
              </a:rPr>
              <a:t> = 1.000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70332D21-B5AA-4170-9BE0-16E0BACABDDF}"/>
              </a:ext>
            </a:extLst>
          </p:cNvPr>
          <p:cNvSpPr>
            <a:spLocks noGrp="1"/>
          </p:cNvSpPr>
          <p:nvPr/>
        </p:nvSpPr>
        <p:spPr>
          <a:xfrm>
            <a:off x="8515350" y="3124200"/>
            <a:ext cx="2514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125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прогноз доступен для проверенных данных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F197E285-D73A-43B9-85F7-6FA62640DE10}"/>
              </a:ext>
            </a:extLst>
          </p:cNvPr>
          <p:cNvSpPr>
            <a:spLocks noGrp="1"/>
          </p:cNvSpPr>
          <p:nvPr/>
        </p:nvSpPr>
        <p:spPr>
          <a:xfrm>
            <a:off x="2476500" y="4000500"/>
            <a:ext cx="7239000" cy="876300"/>
          </a:xfrm>
          <a:prstGeom prst="rect">
            <a:avLst/>
          </a:prstGeom>
          <a:solidFill>
            <a:srgbClr val="F7FBFC"/>
          </a:solidFill>
          <a:ln w="11430">
            <a:solidFill>
              <a:srgbClr val="CDE5EC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C59C4B4D-45DC-46F3-943C-FE7E378F07F1}"/>
              </a:ext>
            </a:extLst>
          </p:cNvPr>
          <p:cNvSpPr>
            <a:spLocks noGrp="1"/>
          </p:cNvSpPr>
          <p:nvPr/>
        </p:nvSpPr>
        <p:spPr>
          <a:xfrm>
            <a:off x="2476500" y="4000500"/>
            <a:ext cx="66675" cy="876300"/>
          </a:xfrm>
          <a:prstGeom prst="rect">
            <a:avLst/>
          </a:prstGeom>
          <a:solidFill>
            <a:srgbClr val="D96C3D"/>
          </a:solidFill>
          <a:ln w="0">
            <a:solidFill>
              <a:srgbClr val="D96C3D"/>
            </a:solidFill>
            <a:prstDash val="solid"/>
          </a:ln>
        </p:spPr>
        <p:txBody>
          <a:bodyPr/>
          <a:lstStyle/>
          <a:p>
            <a:endParaRPr lang="ru-RU" noProof="0" dirty="0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839E4C4B-7297-40C8-AF7B-7CBFE0914B8F}"/>
              </a:ext>
            </a:extLst>
          </p:cNvPr>
          <p:cNvSpPr>
            <a:spLocks noGrp="1"/>
          </p:cNvSpPr>
          <p:nvPr/>
        </p:nvSpPr>
        <p:spPr>
          <a:xfrm>
            <a:off x="2686050" y="4171950"/>
            <a:ext cx="6819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3369C7"/>
                </a:solidFill>
                <a:latin typeface="Aptos"/>
                <a:ea typeface="Aptos"/>
                <a:cs typeface="Aptos"/>
              </a:defRPr>
            </a:pPr>
            <a:r>
              <a:rPr lang="ru-RU" sz="1500" b="1" noProof="0" dirty="0">
                <a:solidFill>
                  <a:srgbClr val="3369C7"/>
                </a:solidFill>
                <a:latin typeface="Aptos"/>
                <a:ea typeface="Aptos"/>
                <a:cs typeface="Aptos"/>
              </a:rPr>
              <a:t>Расчет эффекта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B66340A-37B1-4A4B-BEFB-7A0EE1690C93}"/>
              </a:ext>
            </a:extLst>
          </p:cNvPr>
          <p:cNvSpPr>
            <a:spLocks noGrp="1"/>
          </p:cNvSpPr>
          <p:nvPr/>
        </p:nvSpPr>
        <p:spPr>
          <a:xfrm>
            <a:off x="2686050" y="4552950"/>
            <a:ext cx="68389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062B35"/>
                </a:solidFill>
                <a:latin typeface="Aptos"/>
                <a:ea typeface="Aptos"/>
                <a:cs typeface="Aptos"/>
              </a:defRPr>
            </a:pPr>
            <a:r>
              <a:rPr lang="ru-RU" sz="1350" b="0" noProof="0" dirty="0">
                <a:solidFill>
                  <a:srgbClr val="062B35"/>
                </a:solidFill>
                <a:latin typeface="Aptos"/>
                <a:ea typeface="Aptos"/>
                <a:cs typeface="Aptos"/>
              </a:rPr>
              <a:t>3 × (8 − 2) × 30000 − 90000 = 450000 руб./год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025F77B9-287A-4178-98E5-32C81233C629}"/>
              </a:ext>
            </a:extLst>
          </p:cNvPr>
          <p:cNvSpPr>
            <a:spLocks noGrp="1"/>
          </p:cNvSpPr>
          <p:nvPr/>
        </p:nvSpPr>
        <p:spPr>
          <a:xfrm>
            <a:off x="1390650" y="5048250"/>
            <a:ext cx="9486900" cy="1143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ru-RU" sz="1425" b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Разработан ПАК от цифровой модели до мониторинга оператора.</a:t>
            </a:r>
          </a:p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ru-RU" sz="1425" b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Получены проверяемые данные, признаки деградации и прогноз RUL.</a:t>
            </a:r>
          </a:p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ru-RU" sz="1425" b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Результаты подтверждают работоспособность прототипа PdM-контура на модельных данных.</a:t>
            </a:r>
          </a:p>
          <a:p>
            <a:pPr algn="l"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ru-RU" sz="1425" b="0" noProof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• Для промышленного внедрения требуется калибровка на реальной телеметрии и истории отказов.</a:t>
            </a:r>
          </a:p>
        </p:txBody>
      </p:sp>
    </p:spTree>
    <p:extLst>
      <p:ext uri="{BB962C8B-B14F-4D97-AF65-F5344CB8AC3E}">
        <p14:creationId xmlns:p14="http://schemas.microsoft.com/office/powerpoint/2010/main" val="2493942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</a:extLst>
          </p:cNvPr>
          <p:cNvSpPr>
            <a:spLocks noGrp="1"/>
          </p:cNvSpPr>
          <p:nvPr/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</a:extLst>
          </p:cNvPr>
          <p:cNvSpPr>
            <a:spLocks noGrp="1"/>
          </p:cNvSpPr>
          <p:nvPr/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</a:extLst>
          </p:cNvPr>
          <p:cNvSpPr>
            <a:spLocks noGrp="1"/>
          </p:cNvSpPr>
          <p:nvPr/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</a:extLst>
          </p:cNvPr>
          <p:cNvSpPr>
            <a:spLocks noGrp="1"/>
          </p:cNvSpPr>
          <p:nvPr/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</a:extLst>
          </p:cNvPr>
          <p:cNvSpPr>
            <a:spLocks noGrp="1"/>
          </p:cNvSpPr>
          <p:nvPr/>
        </p:nvSpPr>
        <p:spPr>
          <a:xfrm rot="12508972">
            <a:off x="5945431" y="-1032053"/>
            <a:ext cx="4990147" cy="4439131"/>
          </a:xfrm>
          <a:custGeom>
            <a:avLst/>
            <a:gdLst/>
            <a:ahLst/>
            <a:cxnLst/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415939-E71F-68FD-F7F8-5942F72DF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0" tIns="0" rIns="0" bIns="0" anchor="b">
            <a:normAutofit/>
          </a:bodyPr>
          <a:lstStyle/>
          <a:p>
            <a:r>
              <a:rPr lang="ru-RU" sz="3150" b="0" noProof="0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440476890"/>
      </p:ext>
    </p:extLst>
  </p:cSld>
  <p:clrMapOvr>
    <a:masterClrMapping/>
  </p:clrMapOvr>
</p:sld>
</file>

<file path=ppt/theme/theme1.xml><?xml version="1.0" encoding="utf-8"?>
<a:theme xmlns:a="http://schemas.openxmlformats.org/drawingml/2006/main" name="Стандартная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тандартная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679</Words>
  <Application>Microsoft Office PowerPoint</Application>
  <DocSecurity>0</DocSecurity>
  <PresentationFormat>Широкоэкранный</PresentationFormat>
  <Paragraphs>201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0" baseType="lpstr">
      <vt:lpstr>Aptos</vt:lpstr>
      <vt:lpstr>Aptos Display</vt:lpstr>
      <vt:lpstr>Стандартная</vt:lpstr>
      <vt:lpstr>Разработка программно-аппаратного комплекса предиктивного обслуживания узлов робота-паллетизатора</vt:lpstr>
      <vt:lpstr>Актуальность</vt:lpstr>
      <vt:lpstr>Цель и задачи</vt:lpstr>
      <vt:lpstr>Производственная линия</vt:lpstr>
      <vt:lpstr>Участок паллетизации</vt:lpstr>
      <vt:lpstr>Объект исследования</vt:lpstr>
      <vt:lpstr>Концепция PdM</vt:lpstr>
      <vt:lpstr>Цифровая модель в CoppeliaSim</vt:lpstr>
      <vt:lpstr>Телеметрия и диагностические признаки</vt:lpstr>
      <vt:lpstr>Архитектура разработанного ПАК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егор миронов</cp:lastModifiedBy>
  <cp:revision>2</cp:revision>
  <dcterms:created xsi:type="dcterms:W3CDTF">2026-05-29T09:29:23Z</dcterms:created>
  <dcterms:modified xsi:type="dcterms:W3CDTF">2026-05-29T09:48:40Z</dcterms:modified>
</cp:coreProperties>
</file>